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75" r:id="rId6"/>
    <p:sldId id="262" r:id="rId7"/>
    <p:sldId id="263" r:id="rId8"/>
    <p:sldId id="264" r:id="rId9"/>
    <p:sldId id="268" r:id="rId10"/>
    <p:sldId id="265" r:id="rId11"/>
    <p:sldId id="269" r:id="rId12"/>
    <p:sldId id="266" r:id="rId13"/>
    <p:sldId id="267" r:id="rId14"/>
    <p:sldId id="270" r:id="rId15"/>
    <p:sldId id="272" r:id="rId16"/>
    <p:sldId id="277" r:id="rId17"/>
    <p:sldId id="271" r:id="rId18"/>
    <p:sldId id="273" r:id="rId19"/>
    <p:sldId id="280" r:id="rId20"/>
    <p:sldId id="282" r:id="rId21"/>
    <p:sldId id="281" r:id="rId22"/>
    <p:sldId id="283" r:id="rId23"/>
    <p:sldId id="295" r:id="rId24"/>
    <p:sldId id="297" r:id="rId25"/>
    <p:sldId id="296" r:id="rId26"/>
    <p:sldId id="286" r:id="rId27"/>
    <p:sldId id="288" r:id="rId28"/>
    <p:sldId id="293" r:id="rId29"/>
    <p:sldId id="289" r:id="rId30"/>
    <p:sldId id="291" r:id="rId31"/>
    <p:sldId id="284" r:id="rId32"/>
    <p:sldId id="292" r:id="rId33"/>
    <p:sldId id="287" r:id="rId34"/>
    <p:sldId id="290" r:id="rId35"/>
    <p:sldId id="294" r:id="rId36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006C31"/>
        </a:solidFill>
        <a:latin typeface="LMU CompatilFact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CEAA8-1C55-6946-BD0B-0F1A2CE0464D}" v="660" dt="2026-04-14T18:56:28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15" autoAdjust="0"/>
    <p:restoredTop sz="82449" autoAdjust="0"/>
  </p:normalViewPr>
  <p:slideViewPr>
    <p:cSldViewPr>
      <p:cViewPr varScale="1">
        <p:scale>
          <a:sx n="104" d="100"/>
          <a:sy n="104" d="100"/>
        </p:scale>
        <p:origin x="170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4504" y="232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5EBDD16-48A4-13B0-758A-A1EB448CA7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90" tIns="47445" rIns="94890" bIns="47445" numCol="1" anchor="t" anchorCtr="0" compatLnSpc="1">
            <a:prstTxWarp prst="textNoShape">
              <a:avLst/>
            </a:prstTxWarp>
          </a:bodyPr>
          <a:lstStyle>
            <a:lvl1pPr algn="l" defTabSz="949238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ea typeface="ＭＳ Ｐゴシック" pitchFamily="-12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30CBE4F-02B6-E099-9CBD-8E5BE98357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90" tIns="47445" rIns="94890" bIns="47445" numCol="1" anchor="t" anchorCtr="0" compatLnSpc="1">
            <a:prstTxWarp prst="textNoShape">
              <a:avLst/>
            </a:prstTxWarp>
          </a:bodyPr>
          <a:lstStyle>
            <a:lvl1pPr algn="r" defTabSz="949238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ea typeface="ＭＳ Ｐゴシック" pitchFamily="-12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D990120-DB28-F869-9D66-9EFB185BE1F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6763"/>
            <a:ext cx="5121275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869C0BE-0AA0-DB95-5445-2EFDF6EEAD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90" tIns="47445" rIns="94890" bIns="47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C0F93DB3-D3F3-A99A-A441-EFFB693ADB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90" tIns="47445" rIns="94890" bIns="47445" numCol="1" anchor="b" anchorCtr="0" compatLnSpc="1">
            <a:prstTxWarp prst="textNoShape">
              <a:avLst/>
            </a:prstTxWarp>
          </a:bodyPr>
          <a:lstStyle>
            <a:lvl1pPr algn="l" defTabSz="949238" eaLnBrk="0" hangingPunct="0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  <a:ea typeface="ＭＳ Ｐゴシック" pitchFamily="-12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D7D70C11-A767-F5FB-4DF2-EC8175B39A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890" tIns="47445" rIns="94890" bIns="47445" numCol="1" anchor="b" anchorCtr="0" compatLnSpc="1">
            <a:prstTxWarp prst="textNoShape">
              <a:avLst/>
            </a:prstTxWarp>
          </a:bodyPr>
          <a:lstStyle>
            <a:lvl1pPr algn="r" defTabSz="947738" eaLnBrk="0" hangingPunct="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7AD866B-7209-5B49-8193-08BED670DEF8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Folienbildplatzhalter 1">
            <a:extLst>
              <a:ext uri="{FF2B5EF4-FFF2-40B4-BE49-F238E27FC236}">
                <a16:creationId xmlns:a16="http://schemas.microsoft.com/office/drawing/2014/main" id="{AF757B48-F137-A8AB-76D7-8846BE0AB2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2" name="Notizenplatzhalter 2">
            <a:extLst>
              <a:ext uri="{FF2B5EF4-FFF2-40B4-BE49-F238E27FC236}">
                <a16:creationId xmlns:a16="http://schemas.microsoft.com/office/drawing/2014/main" id="{0751C390-445F-96DB-D14E-90F2C86B5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3" name="Foliennummernplatzhalter 3">
            <a:extLst>
              <a:ext uri="{FF2B5EF4-FFF2-40B4-BE49-F238E27FC236}">
                <a16:creationId xmlns:a16="http://schemas.microsoft.com/office/drawing/2014/main" id="{8DBB2AB1-8D19-03E5-799B-ED352C54D1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7FF7CFA0-BA01-1C42-B558-2517D1FFD00D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Folienbildplatzhalter 1">
            <a:extLst>
              <a:ext uri="{FF2B5EF4-FFF2-40B4-BE49-F238E27FC236}">
                <a16:creationId xmlns:a16="http://schemas.microsoft.com/office/drawing/2014/main" id="{A7858211-FC36-DDDD-B396-949C046126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0" name="Notizenplatzhalter 2">
            <a:extLst>
              <a:ext uri="{FF2B5EF4-FFF2-40B4-BE49-F238E27FC236}">
                <a16:creationId xmlns:a16="http://schemas.microsoft.com/office/drawing/2014/main" id="{990BB066-0481-E951-A26F-D50FA7557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171" name="Foliennummernplatzhalter 3">
            <a:extLst>
              <a:ext uri="{FF2B5EF4-FFF2-40B4-BE49-F238E27FC236}">
                <a16:creationId xmlns:a16="http://schemas.microsoft.com/office/drawing/2014/main" id="{AA71F7E9-EF7D-7345-9930-FF5D3572AA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EC8BF0BE-625E-9E4E-B069-23D30B15BC84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2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Folienbildplatzhalter 1">
            <a:extLst>
              <a:ext uri="{FF2B5EF4-FFF2-40B4-BE49-F238E27FC236}">
                <a16:creationId xmlns:a16="http://schemas.microsoft.com/office/drawing/2014/main" id="{93408BF3-F75A-77EE-DCED-4A3898270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Notizenplatzhalter 2">
            <a:extLst>
              <a:ext uri="{FF2B5EF4-FFF2-40B4-BE49-F238E27FC236}">
                <a16:creationId xmlns:a16="http://schemas.microsoft.com/office/drawing/2014/main" id="{FF0FF6DA-04DC-8BCB-BCFB-B16B1BCD9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sz="1200" kern="1200" dirty="0">
              <a:solidFill>
                <a:schemeClr val="tx1"/>
              </a:solidFill>
              <a:effectLst/>
              <a:latin typeface="Arial" charset="0"/>
              <a:ea typeface="ＭＳ Ｐゴシック" pitchFamily="-12" charset="-128"/>
              <a:cs typeface="+mn-cs"/>
            </a:endParaRPr>
          </a:p>
        </p:txBody>
      </p:sp>
      <p:sp>
        <p:nvSpPr>
          <p:cNvPr id="9219" name="Foliennummernplatzhalter 3">
            <a:extLst>
              <a:ext uri="{FF2B5EF4-FFF2-40B4-BE49-F238E27FC236}">
                <a16:creationId xmlns:a16="http://schemas.microsoft.com/office/drawing/2014/main" id="{B9FAF51B-CAA3-5CAF-22B9-A37F0BFFF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25C44C98-2A8B-1345-87C2-22FC79DEE9F0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3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Folienbildplatzhalter 1">
            <a:extLst>
              <a:ext uri="{FF2B5EF4-FFF2-40B4-BE49-F238E27FC236}">
                <a16:creationId xmlns:a16="http://schemas.microsoft.com/office/drawing/2014/main" id="{CEF170BF-31ED-E70C-B4E9-59C02FE13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Notizenplatzhalter 2">
            <a:extLst>
              <a:ext uri="{FF2B5EF4-FFF2-40B4-BE49-F238E27FC236}">
                <a16:creationId xmlns:a16="http://schemas.microsoft.com/office/drawing/2014/main" id="{2BE715B7-84FF-5F9B-9DF5-C25711C8A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sz="1200" kern="1200" dirty="0">
              <a:solidFill>
                <a:schemeClr val="tx1"/>
              </a:solidFill>
              <a:effectLst/>
              <a:latin typeface="Arial" charset="0"/>
              <a:ea typeface="ＭＳ Ｐゴシック" pitchFamily="-12" charset="-128"/>
              <a:cs typeface="+mn-cs"/>
            </a:endParaRPr>
          </a:p>
        </p:txBody>
      </p:sp>
      <p:sp>
        <p:nvSpPr>
          <p:cNvPr id="11267" name="Foliennummernplatzhalter 3">
            <a:extLst>
              <a:ext uri="{FF2B5EF4-FFF2-40B4-BE49-F238E27FC236}">
                <a16:creationId xmlns:a16="http://schemas.microsoft.com/office/drawing/2014/main" id="{B82A607A-18D2-73DE-BDAA-E0D1590960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299126DB-575A-0943-8DE1-9837BD74AC89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4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kern="1200" dirty="0">
              <a:solidFill>
                <a:schemeClr val="tx1"/>
              </a:solidFill>
              <a:effectLst/>
              <a:latin typeface="Arial" charset="0"/>
              <a:ea typeface="ＭＳ Ｐゴシック" pitchFamily="-12" charset="-128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AD866B-7209-5B49-8193-08BED670DEF8}" type="slidenum">
              <a:rPr lang="de-DE" altLang="de-DE" smtClean="0"/>
              <a:pPr>
                <a:defRPr/>
              </a:pPr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4786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lienbildplatzhalter 1">
            <a:extLst>
              <a:ext uri="{FF2B5EF4-FFF2-40B4-BE49-F238E27FC236}">
                <a16:creationId xmlns:a16="http://schemas.microsoft.com/office/drawing/2014/main" id="{C477994E-0EC7-B866-5219-9C4C62AA07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izenplatzhalter 2">
            <a:extLst>
              <a:ext uri="{FF2B5EF4-FFF2-40B4-BE49-F238E27FC236}">
                <a16:creationId xmlns:a16="http://schemas.microsoft.com/office/drawing/2014/main" id="{00B070E4-3692-C0AC-F2A2-1DFF4522F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sz="1200" kern="1200" dirty="0">
              <a:solidFill>
                <a:schemeClr val="tx1"/>
              </a:solidFill>
              <a:effectLst/>
              <a:latin typeface="Arial" charset="0"/>
              <a:ea typeface="ＭＳ Ｐゴシック" pitchFamily="-12" charset="-128"/>
              <a:cs typeface="+mn-cs"/>
            </a:endParaRPr>
          </a:p>
        </p:txBody>
      </p:sp>
      <p:sp>
        <p:nvSpPr>
          <p:cNvPr id="17411" name="Foliennummernplatzhalter 3">
            <a:extLst>
              <a:ext uri="{FF2B5EF4-FFF2-40B4-BE49-F238E27FC236}">
                <a16:creationId xmlns:a16="http://schemas.microsoft.com/office/drawing/2014/main" id="{1FB61CB1-D289-4E8B-3C2F-AAB810704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E2490110-B011-594D-9528-CD5219A14684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6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lienbildplatzhalter 1">
            <a:extLst>
              <a:ext uri="{FF2B5EF4-FFF2-40B4-BE49-F238E27FC236}">
                <a16:creationId xmlns:a16="http://schemas.microsoft.com/office/drawing/2014/main" id="{523765F1-D852-3C1E-E4C4-B93F3A74AD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Notizenplatzhalter 2">
            <a:extLst>
              <a:ext uri="{FF2B5EF4-FFF2-40B4-BE49-F238E27FC236}">
                <a16:creationId xmlns:a16="http://schemas.microsoft.com/office/drawing/2014/main" id="{F9F93680-7B0B-D940-B102-874857223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459" name="Foliennummernplatzhalter 3">
            <a:extLst>
              <a:ext uri="{FF2B5EF4-FFF2-40B4-BE49-F238E27FC236}">
                <a16:creationId xmlns:a16="http://schemas.microsoft.com/office/drawing/2014/main" id="{B66398ED-7CDB-3DB7-49A8-1557CA3D88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E626B158-B342-E649-A004-C13A2B295938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7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lienbildplatzhalter 1">
            <a:extLst>
              <a:ext uri="{FF2B5EF4-FFF2-40B4-BE49-F238E27FC236}">
                <a16:creationId xmlns:a16="http://schemas.microsoft.com/office/drawing/2014/main" id="{67512C01-1D6E-7A20-5F95-1C7F940EA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Notizenplatzhalter 2">
            <a:extLst>
              <a:ext uri="{FF2B5EF4-FFF2-40B4-BE49-F238E27FC236}">
                <a16:creationId xmlns:a16="http://schemas.microsoft.com/office/drawing/2014/main" id="{DBC2F21B-5A3D-6424-CAE5-71BAC47E2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507" name="Foliennummernplatzhalter 3">
            <a:extLst>
              <a:ext uri="{FF2B5EF4-FFF2-40B4-BE49-F238E27FC236}">
                <a16:creationId xmlns:a16="http://schemas.microsoft.com/office/drawing/2014/main" id="{4DE05076-1731-ECDB-E21C-F3748D2CFA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AD1107DA-40FC-844C-9AA9-6A3F19663E00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8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lienbildplatzhalter 1">
            <a:extLst>
              <a:ext uri="{FF2B5EF4-FFF2-40B4-BE49-F238E27FC236}">
                <a16:creationId xmlns:a16="http://schemas.microsoft.com/office/drawing/2014/main" id="{D4690F92-7243-7347-2DA3-14F2DE4AFD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Notizenplatzhalter 2">
            <a:extLst>
              <a:ext uri="{FF2B5EF4-FFF2-40B4-BE49-F238E27FC236}">
                <a16:creationId xmlns:a16="http://schemas.microsoft.com/office/drawing/2014/main" id="{441C0959-BC3B-A908-BC07-76A4F8F4A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555" name="Foliennummernplatzhalter 3">
            <a:extLst>
              <a:ext uri="{FF2B5EF4-FFF2-40B4-BE49-F238E27FC236}">
                <a16:creationId xmlns:a16="http://schemas.microsoft.com/office/drawing/2014/main" id="{EDD4A3DB-C5F4-A6E3-CDBF-C04A33821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57C1B6EE-1177-8D46-B0A0-5027AA4B2876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9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lienbildplatzhalter 1">
            <a:extLst>
              <a:ext uri="{FF2B5EF4-FFF2-40B4-BE49-F238E27FC236}">
                <a16:creationId xmlns:a16="http://schemas.microsoft.com/office/drawing/2014/main" id="{E9607D36-3789-0AFF-77EC-47D4C0897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Notizenplatzhalter 2">
            <a:extLst>
              <a:ext uri="{FF2B5EF4-FFF2-40B4-BE49-F238E27FC236}">
                <a16:creationId xmlns:a16="http://schemas.microsoft.com/office/drawing/2014/main" id="{07D0E32B-906F-2B8E-559E-78FF514E3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603" name="Foliennummernplatzhalter 3">
            <a:extLst>
              <a:ext uri="{FF2B5EF4-FFF2-40B4-BE49-F238E27FC236}">
                <a16:creationId xmlns:a16="http://schemas.microsoft.com/office/drawing/2014/main" id="{8D8BDBC8-36A6-6713-B955-9F68D0F85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7D328B84-9032-CF4B-B5F5-A46B52678423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10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lienbildplatzhalter 1">
            <a:extLst>
              <a:ext uri="{FF2B5EF4-FFF2-40B4-BE49-F238E27FC236}">
                <a16:creationId xmlns:a16="http://schemas.microsoft.com/office/drawing/2014/main" id="{0A245E56-05CD-3766-B83C-7C61FBE388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Notizenplatzhalter 2">
            <a:extLst>
              <a:ext uri="{FF2B5EF4-FFF2-40B4-BE49-F238E27FC236}">
                <a16:creationId xmlns:a16="http://schemas.microsoft.com/office/drawing/2014/main" id="{CC2426A3-D877-D1EC-2819-50B0F2F5BA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651" name="Foliennummernplatzhalter 3">
            <a:extLst>
              <a:ext uri="{FF2B5EF4-FFF2-40B4-BE49-F238E27FC236}">
                <a16:creationId xmlns:a16="http://schemas.microsoft.com/office/drawing/2014/main" id="{2C719BD5-2A69-02DB-E651-57A2F5175F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67950360-F78B-7042-9C82-572C4CD0281E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11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lienbildplatzhalter 1">
            <a:extLst>
              <a:ext uri="{FF2B5EF4-FFF2-40B4-BE49-F238E27FC236}">
                <a16:creationId xmlns:a16="http://schemas.microsoft.com/office/drawing/2014/main" id="{9C3E8D5E-446C-B3BA-6F09-6974DFC164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izenplatzhalter 2">
            <a:extLst>
              <a:ext uri="{FF2B5EF4-FFF2-40B4-BE49-F238E27FC236}">
                <a16:creationId xmlns:a16="http://schemas.microsoft.com/office/drawing/2014/main" id="{678C09F6-6A60-76ED-B207-E3D8CC04D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1747" name="Foliennummernplatzhalter 3">
            <a:extLst>
              <a:ext uri="{FF2B5EF4-FFF2-40B4-BE49-F238E27FC236}">
                <a16:creationId xmlns:a16="http://schemas.microsoft.com/office/drawing/2014/main" id="{229CB56E-BE2C-C728-4E12-E9F1873373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defTabSz="947738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fld id="{DB9D1F47-218C-204D-AEF9-66610050E3BC}" type="slidenum">
              <a:rPr lang="de-DE" altLang="de-DE" sz="1200" smtClean="0">
                <a:solidFill>
                  <a:schemeClr val="tx1"/>
                </a:solidFill>
                <a:latin typeface="Arial" panose="020B0604020202020204" pitchFamily="34" charset="0"/>
              </a:rPr>
              <a:pPr/>
              <a:t>12</a:t>
            </a:fld>
            <a:endParaRPr lang="de-DE" altLang="de-DE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AD866B-7209-5B49-8193-08BED670DEF8}" type="slidenum">
              <a:rPr lang="de-DE" altLang="de-DE" smtClean="0"/>
              <a:pPr>
                <a:defRPr/>
              </a:pPr>
              <a:t>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81013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AD866B-7209-5B49-8193-08BED670DEF8}" type="slidenum">
              <a:rPr lang="de-DE" altLang="de-DE" smtClean="0"/>
              <a:pPr>
                <a:defRPr/>
              </a:pPr>
              <a:t>15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09966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AD866B-7209-5B49-8193-08BED670DEF8}" type="slidenum">
              <a:rPr lang="de-DE" altLang="de-DE" smtClean="0"/>
              <a:pPr>
                <a:defRPr/>
              </a:pPr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76514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AD866B-7209-5B49-8193-08BED670DEF8}" type="slidenum">
              <a:rPr lang="de-DE" altLang="de-DE" smtClean="0"/>
              <a:pPr>
                <a:defRPr/>
              </a:pPr>
              <a:t>19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23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start">
            <a:extLst>
              <a:ext uri="{FF2B5EF4-FFF2-40B4-BE49-F238E27FC236}">
                <a16:creationId xmlns:a16="http://schemas.microsoft.com/office/drawing/2014/main" id="{2EF5BEAA-CF35-48FA-B782-824F5A16D7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2463800"/>
            <a:ext cx="5399088" cy="1685925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37063"/>
            <a:ext cx="5400675" cy="1368425"/>
          </a:xfrm>
        </p:spPr>
        <p:txBody>
          <a:bodyPr/>
          <a:lstStyle>
            <a:lvl1pPr marL="0" indent="0">
              <a:buFontTx/>
              <a:buNone/>
              <a:defRPr sz="1800" b="1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9977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0907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standard">
            <a:extLst>
              <a:ext uri="{FF2B5EF4-FFF2-40B4-BE49-F238E27FC236}">
                <a16:creationId xmlns:a16="http://schemas.microsoft.com/office/drawing/2014/main" id="{6E183798-DA1A-C962-48DC-4B66EE7BFF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67525"/>
          </a:xfrm>
          <a:prstGeom prst="rect">
            <a:avLst/>
          </a:prstGeom>
          <a:solidFill>
            <a:schemeClr val="bg1">
              <a:alpha val="9607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BA4A2558-EB00-2F8C-33EC-4E0B939B452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6550025"/>
            <a:ext cx="2919413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de-DE" altLang="de-DE"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Moritz Maier</a:t>
            </a: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C4C820AA-71FE-C496-EF77-48C5330A00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019800" y="6550025"/>
            <a:ext cx="297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pPr algn="r">
              <a:defRPr/>
            </a:pPr>
            <a:r>
              <a:rPr lang="de-DE" altLang="de-DE"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9ECC0371-79F3-454E-8189-F1F3FE6105B9}" type="slidenum">
              <a:rPr lang="de-DE" altLang="de-DE" sz="100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‹Nr.›</a:t>
            </a:fld>
            <a:endParaRPr lang="de-DE" altLang="de-DE" sz="100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9" name="Rectangle 11">
            <a:extLst>
              <a:ext uri="{FF2B5EF4-FFF2-40B4-BE49-F238E27FC236}">
                <a16:creationId xmlns:a16="http://schemas.microsoft.com/office/drawing/2014/main" id="{9BE9BDEC-F09D-DE6B-358B-21752EDA6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51050" y="207963"/>
            <a:ext cx="396081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</a:t>
            </a:r>
          </a:p>
        </p:txBody>
      </p:sp>
      <p:sp>
        <p:nvSpPr>
          <p:cNvPr id="1030" name="Rectangle 12">
            <a:extLst>
              <a:ext uri="{FF2B5EF4-FFF2-40B4-BE49-F238E27FC236}">
                <a16:creationId xmlns:a16="http://schemas.microsoft.com/office/drawing/2014/main" id="{7B730A72-3546-D5BA-FF7C-E8C285806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31" name="Picture 17" descr="madsg_final">
            <a:extLst>
              <a:ext uri="{FF2B5EF4-FFF2-40B4-BE49-F238E27FC236}">
                <a16:creationId xmlns:a16="http://schemas.microsoft.com/office/drawing/2014/main" id="{F199546B-8A6B-A97F-F51E-88D8CCE216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539750"/>
            <a:ext cx="1454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8">
            <a:extLst>
              <a:ext uri="{FF2B5EF4-FFF2-40B4-BE49-F238E27FC236}">
                <a16:creationId xmlns:a16="http://schemas.microsoft.com/office/drawing/2014/main" id="{788B4D67-BC99-0EC8-112A-50A83EF9C3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71813" y="6572250"/>
            <a:ext cx="2143125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C31"/>
                </a:solidFill>
                <a:latin typeface="LMU CompatilFact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de-DE" altLang="de-DE" sz="10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15.04.2026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Arial" charset="0"/>
          <a:ea typeface="ＭＳ Ｐゴシック" pitchFamily="-1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Arial" charset="0"/>
          <a:ea typeface="ＭＳ Ｐゴシック" pitchFamily="-1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Arial" charset="0"/>
          <a:ea typeface="ＭＳ Ｐゴシック" pitchFamily="-1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Arial" charset="0"/>
          <a:ea typeface="ＭＳ Ｐゴシック" pitchFamily="-1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LMU CompatilFact" pitchFamily="2" charset="0"/>
          <a:ea typeface="ＭＳ Ｐゴシック" pitchFamily="-1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LMU CompatilFact" pitchFamily="2" charset="0"/>
          <a:ea typeface="ＭＳ Ｐゴシック" pitchFamily="-1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LMU CompatilFact" pitchFamily="2" charset="0"/>
          <a:ea typeface="ＭＳ Ｐゴシック" pitchFamily="-1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1600" b="1">
          <a:solidFill>
            <a:srgbClr val="006C31"/>
          </a:solidFill>
          <a:latin typeface="LMU CompatilFact" pitchFamily="2" charset="0"/>
          <a:ea typeface="ＭＳ Ｐゴシック" pitchFamily="-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rgbClr val="006C3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>
          <a:solidFill>
            <a:srgbClr val="006C3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rgbClr val="006C3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rgbClr val="006C3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rgbClr val="006C3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6C3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6C3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6C3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rgbClr val="006C3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el 1">
            <a:extLst>
              <a:ext uri="{FF2B5EF4-FFF2-40B4-BE49-F238E27FC236}">
                <a16:creationId xmlns:a16="http://schemas.microsoft.com/office/drawing/2014/main" id="{F635BE97-EAF5-AA8A-29AD-5669DE29A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de-DE" altLang="de-DE" dirty="0"/>
              <a:t>Basket Option Pricing </a:t>
            </a:r>
            <a:r>
              <a:rPr lang="de-DE" altLang="de-DE" dirty="0" err="1"/>
              <a:t>with</a:t>
            </a:r>
            <a:r>
              <a:rPr lang="de-DE" altLang="de-DE" dirty="0"/>
              <a:t> Quantum </a:t>
            </a:r>
            <a:r>
              <a:rPr lang="de-DE" altLang="de-DE" dirty="0" err="1"/>
              <a:t>Circuits</a:t>
            </a:r>
            <a:endParaRPr lang="de-DE" altLang="de-DE" dirty="0"/>
          </a:p>
        </p:txBody>
      </p:sp>
      <p:sp>
        <p:nvSpPr>
          <p:cNvPr id="4098" name="Untertitel 2">
            <a:extLst>
              <a:ext uri="{FF2B5EF4-FFF2-40B4-BE49-F238E27FC236}">
                <a16:creationId xmlns:a16="http://schemas.microsoft.com/office/drawing/2014/main" id="{9E41B8D1-9A3C-F43A-D985-749B84005F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altLang="de-DE"/>
              <a:t>Aufgabensteller: Prof. Dr. Claudia Linnhoff-Popien</a:t>
            </a:r>
          </a:p>
          <a:p>
            <a:r>
              <a:rPr lang="de-DE" altLang="de-DE"/>
              <a:t>Betreuer: Michael Poppel, Tobias Rohe</a:t>
            </a:r>
          </a:p>
          <a:p>
            <a:endParaRPr lang="de-DE" alt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el 1">
            <a:extLst>
              <a:ext uri="{FF2B5EF4-FFF2-40B4-BE49-F238E27FC236}">
                <a16:creationId xmlns:a16="http://schemas.microsoft.com/office/drawing/2014/main" id="{15EFF846-DE1E-1468-D71C-45A635FD3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Motivation: Pricing von Basket Optionen</a:t>
            </a:r>
          </a:p>
        </p:txBody>
      </p:sp>
      <p:sp>
        <p:nvSpPr>
          <p:cNvPr id="6146" name="Inhaltsplatzhalter 2">
            <a:extLst>
              <a:ext uri="{FF2B5EF4-FFF2-40B4-BE49-F238E27FC236}">
                <a16:creationId xmlns:a16="http://schemas.microsoft.com/office/drawing/2014/main" id="{A84C4AA9-2F91-471A-C3CE-9DD67DCBF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Kontext:</a:t>
            </a:r>
            <a:endParaRPr lang="de-DE" dirty="0"/>
          </a:p>
          <a:p>
            <a:r>
              <a:rPr lang="de-DE" dirty="0"/>
              <a:t>Optionen sind zentral am Finanzmarkt</a:t>
            </a:r>
          </a:p>
          <a:p>
            <a:r>
              <a:rPr lang="de-DE" dirty="0"/>
              <a:t>Optionen = Recht, ein Asset zu einem festen Preis zu einem zukünftigen Zeitpunkt zu kaufen/verkaufen</a:t>
            </a:r>
          </a:p>
          <a:p>
            <a:r>
              <a:rPr lang="de-DE" dirty="0"/>
              <a:t>eingesetzt zur Risikoabsicherung, Volatilitätsstrategien und Spekulation</a:t>
            </a:r>
          </a:p>
          <a:p>
            <a:r>
              <a:rPr lang="de-DE" dirty="0"/>
              <a:t>Basket Optionen hängen von mehreren Assets ab</a:t>
            </a:r>
          </a:p>
          <a:p>
            <a:pPr marL="0" indent="0">
              <a:buNone/>
            </a:pPr>
            <a:r>
              <a:rPr lang="de-DE" b="1" dirty="0"/>
              <a:t>Herausforderung:</a:t>
            </a:r>
            <a:endParaRPr lang="de-DE" dirty="0"/>
          </a:p>
          <a:p>
            <a:r>
              <a:rPr lang="de-DE" dirty="0"/>
              <a:t>komplexe Abhängigkeiten zwischen Assets</a:t>
            </a:r>
          </a:p>
          <a:p>
            <a:r>
              <a:rPr lang="de-DE" dirty="0"/>
              <a:t>schwer effizient zu modellieren</a:t>
            </a:r>
          </a:p>
          <a:p>
            <a:pPr marL="0" indent="0">
              <a:buNone/>
            </a:pPr>
            <a:r>
              <a:rPr lang="de-DE" b="1" dirty="0"/>
              <a:t>Klassische Ansätze:</a:t>
            </a:r>
            <a:endParaRPr lang="de-DE" dirty="0"/>
          </a:p>
          <a:p>
            <a:r>
              <a:rPr lang="de-DE" dirty="0"/>
              <a:t>hoher Rechenaufwand</a:t>
            </a:r>
          </a:p>
          <a:p>
            <a:r>
              <a:rPr lang="de-DE" dirty="0"/>
              <a:t>abhängig von Modellannahmen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itel 1">
            <a:extLst>
              <a:ext uri="{FF2B5EF4-FFF2-40B4-BE49-F238E27FC236}">
                <a16:creationId xmlns:a16="http://schemas.microsoft.com/office/drawing/2014/main" id="{EF6B57B1-6E9F-6432-66D4-CF7D7F578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1050" y="188913"/>
            <a:ext cx="3960813" cy="854075"/>
          </a:xfrm>
        </p:spPr>
        <p:txBody>
          <a:bodyPr/>
          <a:lstStyle/>
          <a:p>
            <a:r>
              <a:rPr lang="de-DE" altLang="de-DE" dirty="0"/>
              <a:t>Forschungsfrage</a:t>
            </a:r>
          </a:p>
        </p:txBody>
      </p:sp>
      <p:sp>
        <p:nvSpPr>
          <p:cNvPr id="8194" name="Inhaltsplatzhalter 2">
            <a:extLst>
              <a:ext uri="{FF2B5EF4-FFF2-40B4-BE49-F238E27FC236}">
                <a16:creationId xmlns:a16="http://schemas.microsoft.com/office/drawing/2014/main" id="{38F99246-D1EA-81CD-11B6-92ED4FC8E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Kernfrage:</a:t>
            </a:r>
            <a:endParaRPr lang="de-DE" dirty="0"/>
          </a:p>
          <a:p>
            <a:r>
              <a:rPr lang="de-DE" dirty="0"/>
              <a:t>Können Quantenmodelle Abhängigkeiten besser modellieren?</a:t>
            </a:r>
          </a:p>
          <a:p>
            <a:pPr marL="0" indent="0">
              <a:buNone/>
            </a:pPr>
            <a:r>
              <a:rPr lang="de-DE" b="1" dirty="0"/>
              <a:t>Idee:</a:t>
            </a:r>
            <a:endParaRPr lang="de-DE" dirty="0"/>
          </a:p>
          <a:p>
            <a:r>
              <a:rPr lang="de-DE" dirty="0" err="1"/>
              <a:t>Variational</a:t>
            </a:r>
            <a:r>
              <a:rPr lang="de-DE" dirty="0"/>
              <a:t> Quantum </a:t>
            </a:r>
            <a:r>
              <a:rPr lang="de-DE" dirty="0" err="1"/>
              <a:t>Circuits</a:t>
            </a:r>
            <a:endParaRPr lang="de-DE" dirty="0"/>
          </a:p>
          <a:p>
            <a:r>
              <a:rPr lang="de-DE" dirty="0"/>
              <a:t>nutzen Verschränkung </a:t>
            </a:r>
          </a:p>
          <a:p>
            <a:pPr marL="0" indent="0">
              <a:buNone/>
            </a:pPr>
            <a:r>
              <a:rPr lang="de-DE" b="1" dirty="0"/>
              <a:t>Hypothese:</a:t>
            </a:r>
            <a:endParaRPr lang="de-DE" dirty="0"/>
          </a:p>
          <a:p>
            <a:r>
              <a:rPr lang="de-DE" dirty="0"/>
              <a:t>bessere Darstellung</a:t>
            </a:r>
          </a:p>
          <a:p>
            <a:r>
              <a:rPr lang="de-DE" dirty="0"/>
              <a:t>nicht-separierbarer Abhängigkeiten</a:t>
            </a:r>
          </a:p>
          <a:p>
            <a:pPr marL="0" indent="0">
              <a:buNone/>
            </a:pPr>
            <a:r>
              <a:rPr lang="de-DE" b="1" dirty="0"/>
              <a:t>Vergleich:</a:t>
            </a:r>
            <a:endParaRPr lang="de-DE" dirty="0"/>
          </a:p>
          <a:p>
            <a:r>
              <a:rPr lang="de-DE" dirty="0"/>
              <a:t>klassische neuronale Netze</a:t>
            </a:r>
          </a:p>
          <a:p>
            <a:endParaRPr lang="de-DE" alt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el 1">
            <a:extLst>
              <a:ext uri="{FF2B5EF4-FFF2-40B4-BE49-F238E27FC236}">
                <a16:creationId xmlns:a16="http://schemas.microsoft.com/office/drawing/2014/main" id="{1B99AC4C-2255-AA25-4956-AB6CBB2AC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Herausforderung</a:t>
            </a:r>
          </a:p>
        </p:txBody>
      </p:sp>
      <p:sp>
        <p:nvSpPr>
          <p:cNvPr id="10242" name="Inhaltsplatzhalter 2">
            <a:extLst>
              <a:ext uri="{FF2B5EF4-FFF2-40B4-BE49-F238E27FC236}">
                <a16:creationId xmlns:a16="http://schemas.microsoft.com/office/drawing/2014/main" id="{BC8D6963-9D95-D9DF-34BA-90A937535C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Problem:</a:t>
            </a:r>
            <a:endParaRPr lang="de-DE" dirty="0"/>
          </a:p>
          <a:p>
            <a:r>
              <a:rPr lang="de-DE" dirty="0"/>
              <a:t>kaum reale Daten für Basket Optionen</a:t>
            </a:r>
          </a:p>
          <a:p>
            <a:r>
              <a:rPr lang="de-DE" dirty="0"/>
              <a:t>keine geeigneten Trainingsdaten</a:t>
            </a:r>
          </a:p>
          <a:p>
            <a:pPr marL="0" indent="0">
              <a:buNone/>
            </a:pPr>
            <a:r>
              <a:rPr lang="de-DE" altLang="de-DE" b="1" dirty="0"/>
              <a:t>Lösung:</a:t>
            </a:r>
            <a:endParaRPr lang="de-DE" altLang="de-DE" dirty="0"/>
          </a:p>
          <a:p>
            <a:r>
              <a:rPr lang="de-DE" altLang="de-DE" dirty="0"/>
              <a:t>Generierung synthetischer Daten mit Monte-Carlo-Simulation</a:t>
            </a:r>
          </a:p>
          <a:p>
            <a:pPr marL="0" indent="0">
              <a:buNone/>
            </a:pPr>
            <a:r>
              <a:rPr lang="de-DE" b="1" dirty="0"/>
              <a:t>Einschränkung:</a:t>
            </a:r>
            <a:endParaRPr lang="de-DE" dirty="0"/>
          </a:p>
          <a:p>
            <a:r>
              <a:rPr lang="de-DE" dirty="0"/>
              <a:t>Daten basieren auf Modellannahmen</a:t>
            </a:r>
          </a:p>
          <a:p>
            <a:r>
              <a:rPr lang="de-DE" dirty="0"/>
              <a:t>Korrelationen werden synthetisch erzeugt</a:t>
            </a:r>
          </a:p>
          <a:p>
            <a:endParaRPr lang="de-DE" alt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A84B78-D522-9816-F545-1C2FCD94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Basket Optionen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ADDBD2-DBCB-F54D-BB70-FD97A6FB3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Option(1 Asset):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Payoff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i="0" dirty="0" err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Basket Option (mehrere Assets):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Payoff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de-DE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Beispiele:</a:t>
                </a:r>
                <a:endParaRPr lang="de-DE" dirty="0"/>
              </a:p>
              <a:p>
                <a:r>
                  <a:rPr lang="de-DE" dirty="0" err="1"/>
                  <a:t>Worst-of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i="0" dirty="0" err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de-DE" i="1" dirty="0" err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i="0" dirty="0" err="1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lim>
                                </m:limLow>
                              </m:fName>
                              <m:e>
                                <m:sSubSup>
                                  <m:sSubSupPr>
                                    <m:ctrlP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func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r>
                  <a:rPr lang="de-DE" dirty="0"/>
                  <a:t>Best-</a:t>
                </a:r>
                <a:r>
                  <a:rPr lang="de-DE" dirty="0" err="1"/>
                  <a:t>of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i="0" dirty="0" err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de-DE" i="1" dirty="0" err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e-DE" i="0" dirty="0" err="1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e>
                                  <m:lim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lim>
                                </m:limLow>
                              </m:fName>
                              <m:e>
                                <m:sSubSup>
                                  <m:sSubSupPr>
                                    <m:ctrlP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func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r>
                  <a:rPr lang="de-DE" dirty="0"/>
                  <a:t>Average: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i="0" dirty="0" err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DE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i="1" dirty="0" err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lang="de-DE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de-DE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de-DE" i="1" dirty="0" err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nary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de-DE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Eigenschaft:</a:t>
                </a:r>
                <a:endParaRPr lang="de-DE" dirty="0"/>
              </a:p>
              <a:p>
                <a:r>
                  <a:rPr lang="de-DE" dirty="0"/>
                  <a:t>nicht-linear</a:t>
                </a:r>
              </a:p>
              <a:p>
                <a:r>
                  <a:rPr lang="de-DE" dirty="0"/>
                  <a:t>Abhängigkeiten zwischen den Assets</a:t>
                </a:r>
              </a:p>
              <a:p>
                <a:pPr marL="0" indent="0">
                  <a:buNone/>
                </a:pPr>
                <a:endParaRPr lang="de-DE" dirty="0">
                  <a:noFill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ADDBD2-DBCB-F54D-BB70-FD97A6FB3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55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el 1">
            <a:extLst>
              <a:ext uri="{FF2B5EF4-FFF2-40B4-BE49-F238E27FC236}">
                <a16:creationId xmlns:a16="http://schemas.microsoft.com/office/drawing/2014/main" id="{E037B2BA-2DD3-4F93-82B4-4120B724B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Monte Carlo</a:t>
            </a:r>
          </a:p>
        </p:txBody>
      </p:sp>
      <p:sp>
        <p:nvSpPr>
          <p:cNvPr id="16386" name="Inhaltsplatzhalter 2">
            <a:extLst>
              <a:ext uri="{FF2B5EF4-FFF2-40B4-BE49-F238E27FC236}">
                <a16:creationId xmlns:a16="http://schemas.microsoft.com/office/drawing/2014/main" id="{459372F8-9A00-5898-CE96-97FAC54B3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Idee:</a:t>
            </a:r>
            <a:endParaRPr lang="de-DE" dirty="0"/>
          </a:p>
          <a:p>
            <a:r>
              <a:rPr lang="de-DE" dirty="0"/>
              <a:t>Simulation vieler möglicher Preisentwicklungen</a:t>
            </a:r>
          </a:p>
          <a:p>
            <a:pPr marL="0" indent="0">
              <a:buNone/>
            </a:pPr>
            <a:r>
              <a:rPr lang="de-DE" b="1" dirty="0"/>
              <a:t>Pro Szenario:</a:t>
            </a:r>
            <a:endParaRPr lang="de-DE" dirty="0"/>
          </a:p>
          <a:p>
            <a:r>
              <a:rPr lang="de-DE" dirty="0" err="1"/>
              <a:t>Assetpreise</a:t>
            </a:r>
            <a:r>
              <a:rPr lang="de-DE" dirty="0"/>
              <a:t> simulieren</a:t>
            </a:r>
          </a:p>
          <a:p>
            <a:r>
              <a:rPr lang="de-DE" dirty="0" err="1"/>
              <a:t>Payoff</a:t>
            </a:r>
            <a:r>
              <a:rPr lang="de-DE" dirty="0"/>
              <a:t> berechnen</a:t>
            </a:r>
          </a:p>
          <a:p>
            <a:pPr marL="0" indent="0">
              <a:buNone/>
            </a:pPr>
            <a:r>
              <a:rPr lang="de-DE" b="1" dirty="0"/>
              <a:t>Preis:</a:t>
            </a:r>
            <a:endParaRPr lang="de-DE" dirty="0"/>
          </a:p>
          <a:p>
            <a:r>
              <a:rPr lang="de-DE" dirty="0"/>
              <a:t>Durchschnitt der </a:t>
            </a:r>
            <a:r>
              <a:rPr lang="de-DE" dirty="0" err="1"/>
              <a:t>Payoffs</a:t>
            </a:r>
            <a:endParaRPr lang="de-DE" dirty="0"/>
          </a:p>
          <a:p>
            <a:pPr marL="0" indent="0">
              <a:buNone/>
            </a:pPr>
            <a:r>
              <a:rPr lang="de-DE" b="1" dirty="0"/>
              <a:t>Problem:</a:t>
            </a:r>
            <a:endParaRPr lang="de-DE" dirty="0"/>
          </a:p>
          <a:p>
            <a:r>
              <a:rPr lang="de-DE" dirty="0"/>
              <a:t>hoher Rechenaufwand</a:t>
            </a:r>
          </a:p>
          <a:p>
            <a:r>
              <a:rPr lang="de-DE" dirty="0"/>
              <a:t>skaliert schlecht mit Dimension</a:t>
            </a:r>
          </a:p>
          <a:p>
            <a:r>
              <a:rPr lang="de-DE" dirty="0"/>
              <a:t>Anhängigkeit von Modellannahmen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el 1">
            <a:extLst>
              <a:ext uri="{FF2B5EF4-FFF2-40B4-BE49-F238E27FC236}">
                <a16:creationId xmlns:a16="http://schemas.microsoft.com/office/drawing/2014/main" id="{E27B50F8-A9C4-D8B3-4138-B7EAC69BE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Klassische Modelle</a:t>
            </a:r>
          </a:p>
        </p:txBody>
      </p:sp>
      <p:sp>
        <p:nvSpPr>
          <p:cNvPr id="15362" name="Inhaltsplatzhalter 2">
            <a:extLst>
              <a:ext uri="{FF2B5EF4-FFF2-40B4-BE49-F238E27FC236}">
                <a16:creationId xmlns:a16="http://schemas.microsoft.com/office/drawing/2014/main" id="{86E789F2-955B-D6CF-2AB1-86786022A5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 err="1"/>
              <a:t>Feedforward</a:t>
            </a:r>
            <a:r>
              <a:rPr lang="de-DE" b="1" dirty="0"/>
              <a:t> </a:t>
            </a:r>
            <a:r>
              <a:rPr lang="de-DE" b="1" dirty="0" err="1"/>
              <a:t>Neural</a:t>
            </a:r>
            <a:r>
              <a:rPr lang="de-DE" b="1" dirty="0"/>
              <a:t> Networks</a:t>
            </a:r>
            <a:endParaRPr lang="de-DE" dirty="0"/>
          </a:p>
          <a:p>
            <a:r>
              <a:rPr lang="de-DE" dirty="0"/>
              <a:t>universelle Funktionsapproximation</a:t>
            </a:r>
          </a:p>
          <a:p>
            <a:r>
              <a:rPr lang="de-DE" dirty="0"/>
              <a:t>lernen die Preisfunktion direkt</a:t>
            </a:r>
          </a:p>
          <a:p>
            <a:r>
              <a:rPr lang="de-DE" dirty="0"/>
              <a:t>lernen nicht-lineare Zusammenhänge</a:t>
            </a:r>
          </a:p>
          <a:p>
            <a:pPr marL="0" indent="0">
              <a:buNone/>
            </a:pPr>
            <a:r>
              <a:rPr lang="de-DE" b="1" dirty="0"/>
              <a:t>Baseline </a:t>
            </a:r>
            <a:r>
              <a:rPr lang="de-DE" dirty="0"/>
              <a:t> (Literatur)</a:t>
            </a:r>
            <a:r>
              <a:rPr lang="de-DE" b="1" dirty="0"/>
              <a:t>:</a:t>
            </a:r>
            <a:endParaRPr lang="de-DE" dirty="0"/>
          </a:p>
          <a:p>
            <a:r>
              <a:rPr lang="de-DE" b="1" dirty="0"/>
              <a:t>Culkin et al. (2017):</a:t>
            </a:r>
            <a:endParaRPr lang="de-DE" dirty="0"/>
          </a:p>
          <a:p>
            <a:pPr lvl="1"/>
            <a:r>
              <a:rPr lang="de-DE" dirty="0"/>
              <a:t>4 Hidden Layers</a:t>
            </a:r>
          </a:p>
          <a:p>
            <a:pPr lvl="1"/>
            <a:r>
              <a:rPr lang="de-DE" dirty="0"/>
              <a:t>gemischte Aktivierungen (</a:t>
            </a:r>
            <a:r>
              <a:rPr lang="de-DE" dirty="0" err="1"/>
              <a:t>LeakyReLU</a:t>
            </a:r>
            <a:r>
              <a:rPr lang="de-DE" dirty="0"/>
              <a:t>, ELU, </a:t>
            </a:r>
            <a:r>
              <a:rPr lang="de-DE" dirty="0" err="1"/>
              <a:t>ReLU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Dropout-Regularisierung</a:t>
            </a:r>
          </a:p>
          <a:p>
            <a:r>
              <a:rPr lang="de-DE" b="1" dirty="0"/>
              <a:t>Ferguson et al. (2018):</a:t>
            </a:r>
            <a:endParaRPr lang="de-DE" dirty="0"/>
          </a:p>
          <a:p>
            <a:pPr lvl="1"/>
            <a:r>
              <a:rPr lang="de-DE" dirty="0"/>
              <a:t>6 Hidden Layers</a:t>
            </a:r>
          </a:p>
          <a:p>
            <a:pPr lvl="1"/>
            <a:r>
              <a:rPr lang="de-DE" dirty="0" err="1"/>
              <a:t>ReLU</a:t>
            </a:r>
            <a:r>
              <a:rPr lang="de-DE" dirty="0"/>
              <a:t>-Aktivierung</a:t>
            </a:r>
          </a:p>
          <a:p>
            <a:pPr lvl="1"/>
            <a:r>
              <a:rPr lang="de-DE" dirty="0"/>
              <a:t>keine explizite Regularisierung</a:t>
            </a:r>
          </a:p>
          <a:p>
            <a:pPr>
              <a:defRPr/>
            </a:pPr>
            <a:endParaRPr lang="de-DE" alt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el 1">
            <a:extLst>
              <a:ext uri="{FF2B5EF4-FFF2-40B4-BE49-F238E27FC236}">
                <a16:creationId xmlns:a16="http://schemas.microsoft.com/office/drawing/2014/main" id="{AE26C8E9-21BE-E0B2-4CE8-A16057509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Quantum Modell: Variational Quantum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Inhaltsplatzhalter 2">
                <a:extLst>
                  <a:ext uri="{FF2B5EF4-FFF2-40B4-BE49-F238E27FC236}">
                    <a16:creationId xmlns:a16="http://schemas.microsoft.com/office/drawing/2014/main" id="{96F3E65D-F779-0B3E-6C96-6925A61D8ED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3429000"/>
                <a:ext cx="8507288" cy="2697163"/>
              </a:xfrm>
            </p:spPr>
            <p:txBody>
              <a:bodyPr numCol="2"/>
              <a:lstStyle/>
              <a:p>
                <a:pPr marL="0" indent="0">
                  <a:buNone/>
                </a:pPr>
                <a:r>
                  <a:rPr lang="de-DE" b="1" dirty="0"/>
                  <a:t>Modell:</a:t>
                </a: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†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  <m:r>
                          <a:rPr lang="de-D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r>
                  <a:rPr lang="de-DE" dirty="0"/>
                  <a:t>Erwartungswert eines Observables M</a:t>
                </a:r>
              </a:p>
              <a:p>
                <a:pPr marL="0" indent="0">
                  <a:buNone/>
                </a:pPr>
                <a:r>
                  <a:rPr lang="de-DE" b="1" dirty="0"/>
                  <a:t>Architektur:</a:t>
                </a:r>
                <a:endParaRPr lang="de-DE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de-D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 ⋯ 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de-DE" b="1" dirty="0"/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Encoding </a:t>
                </a:r>
                <a:r>
                  <a:rPr lang="de-DE" dirty="0"/>
                  <a:t>S(x)</a:t>
                </a:r>
                <a:r>
                  <a:rPr lang="de-DE" b="1" dirty="0"/>
                  <a:t>:</a:t>
                </a:r>
                <a:endParaRPr lang="de-DE" dirty="0"/>
              </a:p>
              <a:p>
                <a:r>
                  <a:rPr lang="de-DE" dirty="0"/>
                  <a:t>kodiert Daten in Qubits</a:t>
                </a:r>
              </a:p>
              <a:p>
                <a:r>
                  <a:rPr lang="de-DE" dirty="0"/>
                  <a:t>Rotationen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Ansatz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de-DE" b="1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dirty="0"/>
              </a:p>
              <a:p>
                <a:r>
                  <a:rPr lang="de-DE" dirty="0"/>
                  <a:t>trainierbare Parameter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de-DE" dirty="0"/>
              </a:p>
              <a:p>
                <a:r>
                  <a:rPr lang="de-DE" dirty="0"/>
                  <a:t>erzeugt Verschränkung</a:t>
                </a:r>
              </a:p>
            </p:txBody>
          </p:sp>
        </mc:Choice>
        <mc:Fallback xmlns="">
          <p:sp>
            <p:nvSpPr>
              <p:cNvPr id="20482" name="Inhaltsplatzhalter 2">
                <a:extLst>
                  <a:ext uri="{FF2B5EF4-FFF2-40B4-BE49-F238E27FC236}">
                    <a16:creationId xmlns:a16="http://schemas.microsoft.com/office/drawing/2014/main" id="{96F3E65D-F779-0B3E-6C96-6925A61D8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429000"/>
                <a:ext cx="8507288" cy="2697163"/>
              </a:xfrm>
              <a:blipFill>
                <a:blip r:embed="rId3"/>
                <a:stretch>
                  <a:fillRect l="-745" t="-14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CE340A3E-D698-6C7A-8F00-898BDA4BD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1600200"/>
            <a:ext cx="621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el 1">
            <a:extLst>
              <a:ext uri="{FF2B5EF4-FFF2-40B4-BE49-F238E27FC236}">
                <a16:creationId xmlns:a16="http://schemas.microsoft.com/office/drawing/2014/main" id="{EF56BEF1-9F7A-53CE-6631-1B22CE265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Frequenzstruktur von VQC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EFAD15F-0E0F-3657-DEAF-77F580576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de-DE" b="1" dirty="0"/>
                  <a:t>Wichtige Eigenschaft:</a:t>
                </a:r>
                <a:endParaRPr lang="de-DE" dirty="0"/>
              </a:p>
              <a:p>
                <a:r>
                  <a:rPr lang="de-DE" dirty="0"/>
                  <a:t>VQC kann als </a:t>
                </a:r>
                <a:r>
                  <a:rPr lang="de-DE" dirty="0" err="1"/>
                  <a:t>Fourierreihe</a:t>
                </a:r>
                <a:r>
                  <a:rPr lang="de-DE" dirty="0"/>
                  <a:t> dargestellt werden (Schuld et al., 2021)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de-DE" i="0" dirty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nary>
                    <m:sSup>
                      <m:sSup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Struktur:</a:t>
                </a:r>
                <a:endParaRPr lang="de-DE" dirty="0"/>
              </a:p>
              <a:p>
                <a:r>
                  <a:rPr lang="de-DE" dirty="0"/>
                  <a:t>Frequenzspektrum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de-DE" dirty="0"/>
                  <a:t> durch Encoding bestimmt</a:t>
                </a:r>
              </a:p>
              <a:p>
                <a:r>
                  <a:rPr lang="de-DE" dirty="0"/>
                  <a:t>Anzahl der Frequenzen steigt mit Anzahl der Layer </a:t>
                </a:r>
              </a:p>
              <a:p>
                <a:r>
                  <a:rPr lang="de-DE" dirty="0"/>
                  <a:t>Koeffizienten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de-DE" dirty="0"/>
                  <a:t> durch Ansatz bestimmt</a:t>
                </a:r>
              </a:p>
              <a:p>
                <a:pPr marL="0" indent="0">
                  <a:buNone/>
                </a:pPr>
                <a:r>
                  <a:rPr lang="de-DE" b="1" dirty="0"/>
                  <a:t>NUFFT-Analyse:</a:t>
                </a:r>
                <a:endParaRPr lang="de-DE" dirty="0"/>
              </a:p>
              <a:p>
                <a:r>
                  <a:rPr lang="de-DE" dirty="0"/>
                  <a:t>relevante Frequenzen bestimmen</a:t>
                </a:r>
              </a:p>
              <a:p>
                <a:r>
                  <a:rPr lang="de-DE" dirty="0"/>
                  <a:t>Architektur an das Frequenzspektrum anpassen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EFAD15F-0E0F-3657-DEAF-77F580576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el 1">
            <a:extLst>
              <a:ext uri="{FF2B5EF4-FFF2-40B4-BE49-F238E27FC236}">
                <a16:creationId xmlns:a16="http://schemas.microsoft.com/office/drawing/2014/main" id="{61792F94-E35D-41F5-B934-5454F36CB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Experimentelles Setup</a:t>
            </a:r>
          </a:p>
        </p:txBody>
      </p:sp>
      <p:sp>
        <p:nvSpPr>
          <p:cNvPr id="17410" name="Inhaltsplatzhalter 2">
            <a:extLst>
              <a:ext uri="{FF2B5EF4-FFF2-40B4-BE49-F238E27FC236}">
                <a16:creationId xmlns:a16="http://schemas.microsoft.com/office/drawing/2014/main" id="{36E5CBE5-D3C5-2B3C-2EBF-99F3824A8D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3646" cy="4525963"/>
          </a:xfrm>
        </p:spPr>
        <p:txBody>
          <a:bodyPr numCol="2"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de-DE" b="1" dirty="0"/>
              <a:t>Daten:</a:t>
            </a:r>
            <a:endParaRPr lang="de-DE" dirty="0"/>
          </a:p>
          <a:p>
            <a:pPr>
              <a:defRPr/>
            </a:pPr>
            <a:r>
              <a:rPr lang="de-DE" dirty="0"/>
              <a:t>Generiert mit Monte-Carlo-Simulation</a:t>
            </a:r>
          </a:p>
          <a:p>
            <a:pPr>
              <a:defRPr/>
            </a:pPr>
            <a:r>
              <a:rPr lang="de-DE" dirty="0"/>
              <a:t>basierend auf historischen Marktdaten von IBM und NKE</a:t>
            </a:r>
          </a:p>
          <a:p>
            <a:pPr>
              <a:defRPr/>
            </a:pPr>
            <a:r>
              <a:rPr lang="de-DE" dirty="0"/>
              <a:t>Train/Test: zufällig &amp; zeitbasiert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de-DE" b="1" dirty="0"/>
              <a:t>Untersuchungen:</a:t>
            </a:r>
            <a:endParaRPr lang="de-DE" dirty="0"/>
          </a:p>
          <a:p>
            <a:pPr>
              <a:defRPr/>
            </a:pPr>
            <a:r>
              <a:rPr lang="de-DE" dirty="0"/>
              <a:t>Einfluss der Datensatzgröße</a:t>
            </a:r>
          </a:p>
          <a:p>
            <a:pPr>
              <a:defRPr/>
            </a:pPr>
            <a:r>
              <a:rPr lang="de-DE" dirty="0"/>
              <a:t>Einfluss von Rauschen (Noise)</a:t>
            </a:r>
          </a:p>
          <a:p>
            <a:pPr>
              <a:defRPr/>
            </a:pPr>
            <a:r>
              <a:rPr lang="de-DE" dirty="0"/>
              <a:t>Einfluss der Datensatzgröße + Rauschen</a:t>
            </a:r>
            <a:endParaRPr lang="de-DE" altLang="de-DE" dirty="0"/>
          </a:p>
          <a:p>
            <a:pPr>
              <a:defRPr/>
            </a:pPr>
            <a:endParaRPr lang="de-DE" altLang="de-DE" dirty="0"/>
          </a:p>
          <a:p>
            <a:pPr marL="0" indent="0">
              <a:buNone/>
              <a:defRPr/>
            </a:pPr>
            <a:r>
              <a:rPr lang="de-DE" altLang="de-DE" b="1" dirty="0"/>
              <a:t>Modelle: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31D54294-AA50-AF65-0B17-518D7F173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03123"/>
              </p:ext>
            </p:extLst>
          </p:nvPr>
        </p:nvGraphicFramePr>
        <p:xfrm>
          <a:off x="4663644" y="2060848"/>
          <a:ext cx="4157202" cy="30708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8601">
                  <a:extLst>
                    <a:ext uri="{9D8B030D-6E8A-4147-A177-3AD203B41FA5}">
                      <a16:colId xmlns:a16="http://schemas.microsoft.com/office/drawing/2014/main" val="3285900537"/>
                    </a:ext>
                  </a:extLst>
                </a:gridCol>
                <a:gridCol w="2078601">
                  <a:extLst>
                    <a:ext uri="{9D8B030D-6E8A-4147-A177-3AD203B41FA5}">
                      <a16:colId xmlns:a16="http://schemas.microsoft.com/office/drawing/2014/main" val="1041014272"/>
                    </a:ext>
                  </a:extLst>
                </a:gridCol>
              </a:tblGrid>
              <a:tr h="399881"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006C31"/>
                          </a:solidFill>
                        </a:rPr>
                        <a:t>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solidFill>
                            <a:srgbClr val="006C31"/>
                          </a:solidFill>
                        </a:rPr>
                        <a:t>Parameter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88739"/>
                  </a:ext>
                </a:extLst>
              </a:tr>
              <a:tr h="671576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Culkin(</a:t>
                      </a:r>
                      <a:r>
                        <a:rPr lang="de-DE" dirty="0" err="1">
                          <a:solidFill>
                            <a:srgbClr val="006C31"/>
                          </a:solidFill>
                        </a:rPr>
                        <a:t>u</a:t>
                      </a:r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=100, </a:t>
                      </a:r>
                      <a:r>
                        <a:rPr lang="de-DE" dirty="0" err="1">
                          <a:solidFill>
                            <a:srgbClr val="006C31"/>
                          </a:solidFill>
                        </a:rPr>
                        <a:t>drop</a:t>
                      </a:r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=0.25)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30801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339738"/>
                  </a:ext>
                </a:extLst>
              </a:tr>
              <a:tr h="399881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Ferguson(</a:t>
                      </a:r>
                      <a:r>
                        <a:rPr lang="de-DE" dirty="0" err="1">
                          <a:solidFill>
                            <a:srgbClr val="006C31"/>
                          </a:solidFill>
                        </a:rPr>
                        <a:t>u</a:t>
                      </a:r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=9)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496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86220"/>
                  </a:ext>
                </a:extLst>
              </a:tr>
              <a:tr h="399881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Ferguson (</a:t>
                      </a:r>
                      <a:r>
                        <a:rPr lang="de-DE" dirty="0" err="1">
                          <a:solidFill>
                            <a:srgbClr val="006C31"/>
                          </a:solidFill>
                        </a:rPr>
                        <a:t>u</a:t>
                      </a:r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=14)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1121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516094"/>
                  </a:ext>
                </a:extLst>
              </a:tr>
              <a:tr h="399881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VQC(L=1)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617670"/>
                  </a:ext>
                </a:extLst>
              </a:tr>
              <a:tr h="399881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VQC(L=3)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145889"/>
                  </a:ext>
                </a:extLst>
              </a:tr>
              <a:tr h="399881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VQC(L=5)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006C31"/>
                          </a:solidFill>
                        </a:rPr>
                        <a:t>1350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079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el 1">
            <a:extLst>
              <a:ext uri="{FF2B5EF4-FFF2-40B4-BE49-F238E27FC236}">
                <a16:creationId xmlns:a16="http://schemas.microsoft.com/office/drawing/2014/main" id="{0D13BA7F-259D-B90F-4270-848BEA15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Frequenzanalyse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Inhaltsplatzhalter 2">
                <a:extLst>
                  <a:ext uri="{FF2B5EF4-FFF2-40B4-BE49-F238E27FC236}">
                    <a16:creationId xmlns:a16="http://schemas.microsoft.com/office/drawing/2014/main" id="{7BB421EF-9255-9B4B-1062-0FE1413C6931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3960813" cy="4525963"/>
              </a:xfrm>
            </p:spPr>
            <p:txBody>
              <a:bodyPr/>
              <a:lstStyle/>
              <a:p>
                <a:r>
                  <a:rPr lang="de-DE" dirty="0"/>
                  <a:t>dominante niedrige Frequenzen</a:t>
                </a:r>
              </a:p>
              <a:p>
                <a:r>
                  <a:rPr lang="de-DE" dirty="0"/>
                  <a:t>ab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≳4</m:t>
                    </m:r>
                  </m:oMath>
                </a14:m>
                <a:r>
                  <a:rPr lang="de-DE" dirty="0"/>
                  <a:t> nur noch sehr geringe Amplituden</a:t>
                </a:r>
              </a:p>
              <a:p>
                <a:r>
                  <a:rPr lang="de-DE" dirty="0"/>
                  <a:t>geringe Modellkomplexität ausreichend</a:t>
                </a:r>
              </a:p>
            </p:txBody>
          </p:sp>
        </mc:Choice>
        <mc:Fallback xmlns="">
          <p:sp>
            <p:nvSpPr>
              <p:cNvPr id="26626" name="Inhaltsplatzhalter 2">
                <a:extLst>
                  <a:ext uri="{FF2B5EF4-FFF2-40B4-BE49-F238E27FC236}">
                    <a16:creationId xmlns:a16="http://schemas.microsoft.com/office/drawing/2014/main" id="{7BB421EF-9255-9B4B-1062-0FE1413C6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3960813" cy="4525963"/>
              </a:xfrm>
              <a:blipFill>
                <a:blip r:embed="rId3"/>
                <a:stretch>
                  <a:fillRect l="-128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23CF10A4-0738-EF58-1D0A-F2E46C2DC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68661"/>
            <a:ext cx="4572344" cy="3989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el 1">
            <a:extLst>
              <a:ext uri="{FF2B5EF4-FFF2-40B4-BE49-F238E27FC236}">
                <a16:creationId xmlns:a16="http://schemas.microsoft.com/office/drawing/2014/main" id="{5DD0D565-7410-12D7-CAC7-7F448FFD4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/>
              <a:t>Ergebnisse: Baseline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Inhaltsplatzhalter 2">
                <a:extLst>
                  <a:ext uri="{FF2B5EF4-FFF2-40B4-BE49-F238E27FC236}">
                    <a16:creationId xmlns:a16="http://schemas.microsoft.com/office/drawing/2014/main" id="{DB86F039-F458-95C9-CAE6-A8C196B6A7F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4112229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Allgemein:</a:t>
                </a:r>
                <a:endParaRPr lang="de-DE" dirty="0"/>
              </a:p>
              <a:p>
                <a:r>
                  <a:rPr lang="de-DE" dirty="0"/>
                  <a:t>Sehr hohe Genauigkeit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de-DE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Klassische Modelle:</a:t>
                </a:r>
                <a:endParaRPr lang="de-DE" dirty="0"/>
              </a:p>
              <a:p>
                <a:r>
                  <a:rPr lang="de-DE" dirty="0"/>
                  <a:t>Performance steigt mit Modellgröße</a:t>
                </a:r>
              </a:p>
              <a:p>
                <a:r>
                  <a:rPr lang="de-DE" dirty="0"/>
                  <a:t>Culkin mit </a:t>
                </a:r>
                <a:r>
                  <a:rPr lang="de-DE" dirty="0" err="1"/>
                  <a:t>dropout</a:t>
                </a:r>
                <a:r>
                  <a:rPr lang="de-DE" dirty="0"/>
                  <a:t> etwas schlechter</a:t>
                </a:r>
              </a:p>
              <a:p>
                <a:pPr marL="0" indent="0">
                  <a:buNone/>
                </a:pPr>
                <a:r>
                  <a:rPr lang="de-DE" b="1" dirty="0"/>
                  <a:t>VQC:</a:t>
                </a:r>
                <a:endParaRPr lang="de-DE" dirty="0"/>
              </a:p>
              <a:p>
                <a:r>
                  <a:rPr lang="de-DE" dirty="0"/>
                  <a:t>Gute Performance bei geringer Tiefe</a:t>
                </a:r>
              </a:p>
              <a:p>
                <a:pPr marL="0" indent="0">
                  <a:buNone/>
                </a:pPr>
                <a:r>
                  <a:rPr lang="de-DE" b="1" dirty="0"/>
                  <a:t>Fazit:</a:t>
                </a:r>
                <a:endParaRPr lang="de-DE" dirty="0"/>
              </a:p>
              <a:p>
                <a:r>
                  <a:rPr lang="de-DE" dirty="0"/>
                  <a:t>Kein klarer Vorteil</a:t>
                </a:r>
              </a:p>
              <a:p>
                <a:pPr>
                  <a:defRPr/>
                </a:pPr>
                <a:endParaRPr lang="de-DE" altLang="de-DE" dirty="0"/>
              </a:p>
            </p:txBody>
          </p:sp>
        </mc:Choice>
        <mc:Fallback xmlns="">
          <p:sp>
            <p:nvSpPr>
              <p:cNvPr id="21506" name="Inhaltsplatzhalter 2">
                <a:extLst>
                  <a:ext uri="{FF2B5EF4-FFF2-40B4-BE49-F238E27FC236}">
                    <a16:creationId xmlns:a16="http://schemas.microsoft.com/office/drawing/2014/main" id="{DB86F039-F458-95C9-CAE6-A8C196B6A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112229" cy="4525963"/>
              </a:xfrm>
              <a:blipFill>
                <a:blip r:embed="rId3"/>
                <a:stretch>
                  <a:fillRect l="-1543" t="-840" r="-926" b="-28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C28B6F40-0F79-920F-47C8-0C56BC736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429" y="1600200"/>
            <a:ext cx="4375515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el 1">
            <a:extLst>
              <a:ext uri="{FF2B5EF4-FFF2-40B4-BE49-F238E27FC236}">
                <a16:creationId xmlns:a16="http://schemas.microsoft.com/office/drawing/2014/main" id="{69082C49-5BF1-2DCD-2167-ECE6C7CBA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Einfluss der Datensatzgröße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9C7CD83-3DF0-227B-7522-01230891E546}"/>
              </a:ext>
            </a:extLst>
          </p:cNvPr>
          <p:cNvSpPr txBox="1">
            <a:spLocks/>
          </p:cNvSpPr>
          <p:nvPr/>
        </p:nvSpPr>
        <p:spPr bwMode="auto">
          <a:xfrm>
            <a:off x="457200" y="4479703"/>
            <a:ext cx="8229600" cy="1646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de-DE" b="1" dirty="0"/>
              <a:t>Allgemein:</a:t>
            </a:r>
            <a:endParaRPr lang="de-DE" dirty="0"/>
          </a:p>
          <a:p>
            <a:r>
              <a:rPr lang="de-DE" dirty="0"/>
              <a:t>Performance sinkt bei allen Modellen</a:t>
            </a:r>
          </a:p>
          <a:p>
            <a:pPr marL="0" indent="0">
              <a:buNone/>
            </a:pPr>
            <a:r>
              <a:rPr lang="de-DE" b="1" dirty="0"/>
              <a:t>Klassische Modelle:</a:t>
            </a:r>
            <a:endParaRPr lang="de-DE" dirty="0"/>
          </a:p>
          <a:p>
            <a:r>
              <a:rPr lang="de-DE" dirty="0"/>
              <a:t>größere Modelle besser</a:t>
            </a:r>
          </a:p>
          <a:p>
            <a:r>
              <a:rPr lang="de-DE" dirty="0"/>
              <a:t>Culkin mit Dropout besser</a:t>
            </a:r>
          </a:p>
          <a:p>
            <a:pPr marL="0" indent="0">
              <a:buNone/>
            </a:pPr>
            <a:r>
              <a:rPr lang="de-DE" b="1" dirty="0"/>
              <a:t>VQC:</a:t>
            </a:r>
            <a:endParaRPr lang="de-DE" dirty="0"/>
          </a:p>
          <a:p>
            <a:r>
              <a:rPr lang="de-DE" dirty="0"/>
              <a:t>flach besser bei wenig Daten</a:t>
            </a:r>
          </a:p>
          <a:p>
            <a:r>
              <a:rPr lang="de-DE" dirty="0"/>
              <a:t>tiefere Modelle benötigen mehr Daten, um zu profitieren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BA736F2-06CE-4DB4-39F3-A20FB2A6B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3025"/>
            <a:ext cx="8229600" cy="30242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el 1">
            <a:extLst>
              <a:ext uri="{FF2B5EF4-FFF2-40B4-BE49-F238E27FC236}">
                <a16:creationId xmlns:a16="http://schemas.microsoft.com/office/drawing/2014/main" id="{07499F9C-69A3-F572-263B-A914AC4EF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Einfluss von Rauschen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7D69522-5343-19C3-CEFD-5BA1071CD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426878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de-DE" b="1" dirty="0"/>
              <a:t>Allgemein:</a:t>
            </a:r>
            <a:endParaRPr lang="de-DE" dirty="0"/>
          </a:p>
          <a:p>
            <a:r>
              <a:rPr lang="de-DE" dirty="0"/>
              <a:t>Performance sinkt mit zunehmendem Rauschen</a:t>
            </a:r>
          </a:p>
          <a:p>
            <a:pPr marL="0" indent="0">
              <a:buNone/>
            </a:pPr>
            <a:r>
              <a:rPr lang="de-DE" b="1" dirty="0"/>
              <a:t>Klassische Modelle:</a:t>
            </a:r>
            <a:endParaRPr lang="de-DE" dirty="0"/>
          </a:p>
          <a:p>
            <a:r>
              <a:rPr lang="de-DE" dirty="0"/>
              <a:t>größere Modelle besser</a:t>
            </a:r>
          </a:p>
          <a:p>
            <a:r>
              <a:rPr lang="de-DE" dirty="0"/>
              <a:t>Unterschiede zwischen Modellen werden geringer</a:t>
            </a:r>
          </a:p>
          <a:p>
            <a:pPr marL="0" indent="0">
              <a:buNone/>
            </a:pPr>
            <a:r>
              <a:rPr lang="de-DE" b="1" dirty="0"/>
              <a:t>VQC:</a:t>
            </a:r>
            <a:endParaRPr lang="de-DE" dirty="0"/>
          </a:p>
          <a:p>
            <a:r>
              <a:rPr lang="de-DE" dirty="0"/>
              <a:t>flache Modelle stabiler</a:t>
            </a:r>
          </a:p>
          <a:p>
            <a:r>
              <a:rPr lang="de-DE" dirty="0"/>
              <a:t>flache Modelle passen Rauschen weniger stark an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2366899-F395-DAD0-B3C1-B185977B6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987" y="1600200"/>
            <a:ext cx="3960813" cy="46209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7ECE-BE52-0E25-274A-E7106E84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el 1">
            <a:extLst>
              <a:ext uri="{FF2B5EF4-FFF2-40B4-BE49-F238E27FC236}">
                <a16:creationId xmlns:a16="http://schemas.microsoft.com/office/drawing/2014/main" id="{3ACA02A1-6BFC-CFFB-5CC3-CEC2F9E3B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Wenige Daten + Rauschen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97D27340-99EA-157E-619D-F503C92F682D}"/>
              </a:ext>
            </a:extLst>
          </p:cNvPr>
          <p:cNvSpPr txBox="1">
            <a:spLocks/>
          </p:cNvSpPr>
          <p:nvPr/>
        </p:nvSpPr>
        <p:spPr bwMode="auto">
          <a:xfrm>
            <a:off x="457200" y="4392074"/>
            <a:ext cx="8229600" cy="1734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rgbClr val="006C3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6C3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de-DE" b="1" dirty="0"/>
              <a:t>Allgemein:</a:t>
            </a:r>
            <a:endParaRPr lang="de-DE" dirty="0"/>
          </a:p>
          <a:p>
            <a:r>
              <a:rPr lang="de-DE" dirty="0"/>
              <a:t>Performance sinkt bei weniger daten </a:t>
            </a:r>
          </a:p>
          <a:p>
            <a:pPr marL="0" indent="0">
              <a:buNone/>
            </a:pPr>
            <a:r>
              <a:rPr lang="de-DE" b="1" dirty="0"/>
              <a:t>Klassische Modelle:</a:t>
            </a:r>
            <a:endParaRPr lang="de-DE" dirty="0"/>
          </a:p>
          <a:p>
            <a:r>
              <a:rPr lang="de-DE" dirty="0"/>
              <a:t>Große besser bei sehr wenigen daten</a:t>
            </a:r>
          </a:p>
          <a:p>
            <a:r>
              <a:rPr lang="de-DE" dirty="0"/>
              <a:t>Kleiner schneller Verbesserung </a:t>
            </a:r>
          </a:p>
          <a:p>
            <a:pPr marL="0" indent="0">
              <a:buNone/>
            </a:pPr>
            <a:r>
              <a:rPr lang="de-DE" b="1" dirty="0"/>
              <a:t>VQC:</a:t>
            </a:r>
            <a:endParaRPr lang="de-DE" dirty="0"/>
          </a:p>
          <a:p>
            <a:r>
              <a:rPr lang="de-DE" dirty="0"/>
              <a:t>flache Modelle stabiler</a:t>
            </a:r>
          </a:p>
          <a:p>
            <a:r>
              <a:rPr lang="de-DE" dirty="0"/>
              <a:t>flache Modelle passen Rauschen weniger stark an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B2B89B-8F99-D76F-CBB7-8C22307A1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15" y="1443026"/>
            <a:ext cx="7946769" cy="294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7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4BA2F9-7D27-F543-D45C-AF09A2D2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Zeitlicher Train-Test Split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1C93F-A28D-23DF-5215-24AF641E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49080"/>
            <a:ext cx="8229600" cy="1977083"/>
          </a:xfrm>
        </p:spPr>
        <p:txBody>
          <a:bodyPr/>
          <a:lstStyle/>
          <a:p>
            <a:r>
              <a:rPr lang="de-DE" dirty="0"/>
              <a:t>realistischeres Setting </a:t>
            </a:r>
          </a:p>
          <a:p>
            <a:r>
              <a:rPr lang="de-DE" dirty="0"/>
              <a:t>Höchste Volatilitäten in Test Teil</a:t>
            </a:r>
          </a:p>
          <a:p>
            <a:r>
              <a:rPr lang="de-DE" dirty="0"/>
              <a:t>Deshalb höchste Basket Preise im Test Teil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AE3B09B-D820-CB92-9FCF-D40D8B8E8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68788"/>
            <a:ext cx="7772400" cy="227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55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C1A91-B6E5-4A0C-D07B-B0054F61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Zeitlicher Train-Test Split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852317-445F-C475-3971-56E530C5E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350203" cy="4525963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Allgemein:</a:t>
            </a:r>
            <a:endParaRPr lang="de-DE" dirty="0"/>
          </a:p>
          <a:p>
            <a:r>
              <a:rPr lang="de-DE" dirty="0"/>
              <a:t>Performance bleibt hoch</a:t>
            </a:r>
          </a:p>
          <a:p>
            <a:pPr marL="0" indent="0">
              <a:buNone/>
            </a:pPr>
            <a:r>
              <a:rPr lang="de-DE" b="1" dirty="0"/>
              <a:t>Klassische Modelle:</a:t>
            </a:r>
            <a:endParaRPr lang="de-DE" dirty="0"/>
          </a:p>
          <a:p>
            <a:r>
              <a:rPr lang="de-DE" dirty="0"/>
              <a:t>Weiterhin gute Performance </a:t>
            </a:r>
          </a:p>
          <a:p>
            <a:pPr marL="0" indent="0">
              <a:buNone/>
            </a:pPr>
            <a:r>
              <a:rPr lang="de-DE" b="1" dirty="0"/>
              <a:t>VQC:</a:t>
            </a:r>
            <a:endParaRPr lang="de-DE" dirty="0"/>
          </a:p>
          <a:p>
            <a:r>
              <a:rPr lang="de-DE" dirty="0"/>
              <a:t>empfindlich gegenüber Verteilungsänderungen</a:t>
            </a:r>
          </a:p>
          <a:p>
            <a:pPr marL="0" indent="0">
              <a:buNone/>
            </a:pPr>
            <a:r>
              <a:rPr lang="de-DE" b="1" dirty="0"/>
              <a:t>Interpretation:</a:t>
            </a:r>
            <a:endParaRPr lang="de-DE" dirty="0"/>
          </a:p>
          <a:p>
            <a:r>
              <a:rPr lang="de-DE" dirty="0"/>
              <a:t>Extrapolation erforderlich </a:t>
            </a:r>
          </a:p>
          <a:p>
            <a:r>
              <a:rPr lang="de-DE" dirty="0"/>
              <a:t>Generalisierung schwieriger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9F43BB-771E-D14B-B617-05B6B749F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403" y="1600199"/>
            <a:ext cx="387939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0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FFFB2-CFE7-62CA-FA94-5F174FC1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027439-F0DC-605E-D8DD-40821874E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de-DE" b="1" dirty="0"/>
              <a:t>Kernresultat:</a:t>
            </a:r>
            <a:endParaRPr lang="de-DE" dirty="0"/>
          </a:p>
          <a:p>
            <a:r>
              <a:rPr lang="de-DE" dirty="0"/>
              <a:t>hohe Genauigkeit für alle Modelle</a:t>
            </a:r>
          </a:p>
          <a:p>
            <a:r>
              <a:rPr lang="de-DE" dirty="0"/>
              <a:t>kein klarer Vorteil von VQC</a:t>
            </a:r>
          </a:p>
          <a:p>
            <a:pPr marL="0" indent="0">
              <a:buNone/>
            </a:pPr>
            <a:r>
              <a:rPr lang="de-DE" b="1" dirty="0"/>
              <a:t>Modellkapazität:</a:t>
            </a:r>
            <a:endParaRPr lang="de-DE" dirty="0"/>
          </a:p>
          <a:p>
            <a:r>
              <a:rPr lang="de-DE" dirty="0"/>
              <a:t>klassisch: profitiert von Größe</a:t>
            </a:r>
          </a:p>
          <a:p>
            <a:r>
              <a:rPr lang="de-DE" dirty="0"/>
              <a:t>VQC: gute Performance bei geringer Tiefe</a:t>
            </a:r>
          </a:p>
          <a:p>
            <a:pPr marL="0" indent="0">
              <a:buNone/>
            </a:pPr>
            <a:r>
              <a:rPr lang="de-DE" b="1" dirty="0"/>
              <a:t>Daten &amp; Noise:</a:t>
            </a:r>
            <a:endParaRPr lang="de-DE" dirty="0"/>
          </a:p>
          <a:p>
            <a:r>
              <a:rPr lang="de-DE" dirty="0"/>
              <a:t>einfache Modelle robuster</a:t>
            </a:r>
          </a:p>
          <a:p>
            <a:r>
              <a:rPr lang="de-DE" dirty="0"/>
              <a:t>komplexe Modelle benötigen mehr Daten</a:t>
            </a:r>
          </a:p>
          <a:p>
            <a:pPr marL="0" indent="0">
              <a:buNone/>
            </a:pPr>
            <a:r>
              <a:rPr lang="de-DE" b="1" dirty="0"/>
              <a:t>Generalisierung:</a:t>
            </a:r>
            <a:endParaRPr lang="de-DE" dirty="0"/>
          </a:p>
          <a:p>
            <a:r>
              <a:rPr lang="de-DE" dirty="0"/>
              <a:t>klassisch stabiler</a:t>
            </a:r>
          </a:p>
          <a:p>
            <a:r>
              <a:rPr lang="de-DE" dirty="0"/>
              <a:t>VQC empfindlicher gegenüber Distribution Shift</a:t>
            </a:r>
          </a:p>
          <a:p>
            <a:pPr marL="0" indent="0">
              <a:buNone/>
            </a:pPr>
            <a:r>
              <a:rPr lang="de-DE" b="1" dirty="0"/>
              <a:t>Schlussfolgerung:</a:t>
            </a:r>
            <a:endParaRPr lang="de-DE" dirty="0"/>
          </a:p>
          <a:p>
            <a:r>
              <a:rPr lang="de-DE" dirty="0"/>
              <a:t>Performance hängt von Daten &amp; Struktur ab</a:t>
            </a:r>
          </a:p>
          <a:p>
            <a:r>
              <a:rPr lang="de-DE" dirty="0"/>
              <a:t>Verschränkung kein Garant für Vorteil</a:t>
            </a:r>
          </a:p>
        </p:txBody>
      </p:sp>
    </p:spTree>
    <p:extLst>
      <p:ext uri="{BB962C8B-B14F-4D97-AF65-F5344CB8AC3E}">
        <p14:creationId xmlns:p14="http://schemas.microsoft.com/office/powerpoint/2010/main" val="4049219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B8EB6-C4DB-BD5C-6925-3AE43452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Train Block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F5F7A-677C-6C83-A997-76CBE3FD6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712562"/>
            <a:ext cx="8229600" cy="2413601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Einzelner Train Block</a:t>
            </a:r>
            <a:endParaRPr lang="de-DE" dirty="0"/>
          </a:p>
          <a:p>
            <a:r>
              <a:rPr lang="de-DE" dirty="0"/>
              <a:t>Wird im Ansatz B-mal wiederholt</a:t>
            </a:r>
          </a:p>
          <a:p>
            <a:r>
              <a:rPr lang="de-DE" dirty="0"/>
              <a:t>Mehr Wiederholungen für mehr Parameter  </a:t>
            </a:r>
          </a:p>
          <a:p>
            <a:r>
              <a:rPr lang="de-DE" dirty="0"/>
              <a:t>CNOT-Leiterstruktur:</a:t>
            </a:r>
          </a:p>
          <a:p>
            <a:pPr lvl="1"/>
            <a:r>
              <a:rPr lang="de-DE" dirty="0"/>
              <a:t>geringere Circuit-Tiefe als fully-</a:t>
            </a:r>
            <a:r>
              <a:rPr lang="de-DE" dirty="0" err="1"/>
              <a:t>connected</a:t>
            </a:r>
            <a:endParaRPr lang="de-DE" dirty="0"/>
          </a:p>
          <a:p>
            <a:pPr lvl="1"/>
            <a:r>
              <a:rPr lang="de-DE" dirty="0"/>
              <a:t>verhindert starke Randomisierung / schlechte Gradienten</a:t>
            </a:r>
          </a:p>
          <a:p>
            <a:pPr lvl="1"/>
            <a:r>
              <a:rPr lang="de-DE" dirty="0"/>
              <a:t>ermöglicht nicht-separable Abhängigkeiten</a:t>
            </a:r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E95049-D459-8E08-A8FC-E534AE37C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10" y="1574268"/>
            <a:ext cx="6216379" cy="21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38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5BACC0-4207-6C02-F390-C46163F0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Relative Preise und </a:t>
            </a:r>
            <a:r>
              <a:rPr lang="de-DE" dirty="0" err="1"/>
              <a:t>Moneyness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28CA84-8931-4B10-3716-CC5A61B34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Relative Preise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den>
                    </m:f>
                  </m:oMath>
                </a14:m>
                <a:endParaRPr lang="de-DE" b="1" dirty="0"/>
              </a:p>
              <a:p>
                <a:r>
                  <a:rPr lang="de-DE" dirty="0"/>
                  <a:t>statt absoluten Preisen</a:t>
                </a:r>
              </a:p>
              <a:p>
                <a:r>
                  <a:rPr lang="de-DE" dirty="0"/>
                  <a:t>invariant gegenüber Preisniveaus</a:t>
                </a:r>
              </a:p>
              <a:p>
                <a:r>
                  <a:rPr lang="de-DE" dirty="0"/>
                  <a:t>Fokus auf Performance der Assets</a:t>
                </a:r>
              </a:p>
              <a:p>
                <a:pPr marL="0" indent="0">
                  <a:buNone/>
                </a:pPr>
                <a:r>
                  <a:rPr lang="de-DE" b="1" dirty="0"/>
                  <a:t>Strike als relative </a:t>
                </a:r>
                <a:r>
                  <a:rPr lang="de-DE" b="1" dirty="0" err="1"/>
                  <a:t>Moneyness</a:t>
                </a:r>
                <a:r>
                  <a:rPr lang="de-DE" b="1" dirty="0"/>
                  <a:t> definiert:</a:t>
                </a:r>
              </a:p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0.7,1.3</m:t>
                        </m:r>
                      </m:e>
                    </m:d>
                  </m:oMath>
                </a14:m>
                <a:endParaRPr lang="de-DE" b="1" dirty="0"/>
              </a:p>
              <a:p>
                <a:r>
                  <a:rPr lang="de-DE" dirty="0"/>
                  <a:t>Interpretation:</a:t>
                </a:r>
              </a:p>
              <a:p>
                <a:r>
                  <a:rPr lang="de-DE" dirty="0"/>
                  <a:t>m &lt; 1 → ITM, m ≈ 1 → ATM, m &gt; 1 → OTM</a:t>
                </a:r>
              </a:p>
              <a:p>
                <a:r>
                  <a:rPr lang="de-DE" dirty="0"/>
                  <a:t>Für jede Beobachtung: M = 5 Strikes (verschiedene </a:t>
                </a:r>
                <a:r>
                  <a:rPr lang="de-DE" dirty="0" err="1"/>
                  <a:t>Moneyness</a:t>
                </a:r>
                <a:r>
                  <a:rPr lang="de-DE" dirty="0"/>
                  <a:t>-Level)</a:t>
                </a:r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28CA84-8931-4B10-3716-CC5A61B34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50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AD209-20D6-25E2-63B3-22209598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Rauschen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7168F2F-6E45-F448-7670-736D6A4874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Ziel: </a:t>
                </a:r>
              </a:p>
              <a:p>
                <a:r>
                  <a:rPr lang="de-DE" dirty="0"/>
                  <a:t>Robustheit gegenüber verrauschten Daten testen</a:t>
                </a:r>
              </a:p>
              <a:p>
                <a:pPr marL="0" indent="0">
                  <a:buNone/>
                </a:pPr>
                <a:r>
                  <a:rPr lang="de-DE" b="1" dirty="0"/>
                  <a:t>Gaußsches Rauschen:</a:t>
                </a:r>
              </a:p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Multiplikative Anwendung auf Targets: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de-DE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de-DE" i="1" dirty="0" err="1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d>
                      <m:d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dirty="0"/>
                  <a:t>Testdaten bleiben unverändert</a:t>
                </a:r>
              </a:p>
              <a:p>
                <a:pPr marL="0" indent="0">
                  <a:buNone/>
                </a:pPr>
                <a:r>
                  <a:rPr lang="de-DE" b="1" dirty="0"/>
                  <a:t>Rauschstärke:</a:t>
                </a:r>
              </a:p>
              <a:p>
                <a:r>
                  <a:rPr lang="de-DE" dirty="0"/>
                  <a:t>𝛼 ∈ {0, 0.05, 0.1, 0.25, 0.5}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7168F2F-6E45-F448-7670-736D6A4874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843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23607-7A67-F696-6E98-9FF45ABC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6A5447-7541-2FB3-BD9E-3B2677E60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Ziel:</a:t>
                </a:r>
                <a:endParaRPr lang="de-DE" dirty="0"/>
              </a:p>
              <a:p>
                <a:r>
                  <a:rPr lang="de-DE" dirty="0"/>
                  <a:t>Minimierung des MSE zwischen Modell und Monte-Carlo-Preisen</a:t>
                </a:r>
              </a:p>
              <a:p>
                <a:pPr marL="0" indent="0">
                  <a:buNone/>
                </a:pPr>
                <a:r>
                  <a:rPr lang="de-DE" b="1" dirty="0"/>
                  <a:t>Optimierung:</a:t>
                </a:r>
                <a:endParaRPr lang="de-DE" dirty="0"/>
              </a:p>
              <a:p>
                <a:r>
                  <a:rPr lang="de-DE" dirty="0"/>
                  <a:t>Adam Optimizer</a:t>
                </a:r>
              </a:p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𝐿𝑒𝑟𝑛𝑟𝑎𝑡𝑒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 0.001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Training:</a:t>
                </a:r>
                <a:endParaRPr lang="de-DE" dirty="0"/>
              </a:p>
              <a:p>
                <a:r>
                  <a:rPr lang="de-DE" dirty="0"/>
                  <a:t>feste Anzahl an Optimierungsschritten</a:t>
                </a:r>
              </a:p>
              <a:p>
                <a:r>
                  <a:rPr lang="de-DE" dirty="0"/>
                  <a:t>vergleichbare Trainingsdauer</a:t>
                </a:r>
              </a:p>
              <a:p>
                <a:pPr marL="0" indent="0">
                  <a:buNone/>
                </a:pPr>
                <a:r>
                  <a:rPr lang="de-DE" b="1" dirty="0"/>
                  <a:t>Batchgröße: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10% </m:t>
                    </m:r>
                  </m:oMath>
                </a14:m>
                <a:r>
                  <a:rPr lang="de-DE" dirty="0"/>
                  <a:t>der Trainingsdaten</a:t>
                </a:r>
              </a:p>
              <a:p>
                <a:r>
                  <a:rPr lang="de-DE" dirty="0"/>
                  <a:t>min: 8, </a:t>
                </a:r>
                <a:r>
                  <a:rPr lang="de-DE" dirty="0" err="1"/>
                  <a:t>max</a:t>
                </a:r>
                <a:r>
                  <a:rPr lang="de-DE" dirty="0"/>
                  <a:t>: 64</a:t>
                </a:r>
              </a:p>
              <a:p>
                <a:pPr marL="0" indent="0">
                  <a:buNone/>
                </a:pPr>
                <a:r>
                  <a:rPr lang="de-DE" b="1" dirty="0"/>
                  <a:t>Hinweis:</a:t>
                </a:r>
                <a:endParaRPr lang="de-DE" dirty="0"/>
              </a:p>
              <a:p>
                <a:r>
                  <a:rPr lang="de-DE" dirty="0"/>
                  <a:t>effektive Epochenzahl ergibt sich implizit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96A5447-7541-2FB3-BD9E-3B2677E60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 b="-81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141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6F852-6F9A-3D30-600B-AA6B2969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F4BC48-FC64-E00E-80EA-CF89AB55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Daten:</a:t>
            </a:r>
            <a:endParaRPr lang="de-DE" dirty="0"/>
          </a:p>
          <a:p>
            <a:r>
              <a:rPr lang="de-DE" dirty="0"/>
              <a:t>realistischere Simulationen</a:t>
            </a:r>
          </a:p>
          <a:p>
            <a:r>
              <a:rPr lang="de-DE" dirty="0"/>
              <a:t>Verwendung realer Marktdaten</a:t>
            </a:r>
          </a:p>
          <a:p>
            <a:pPr marL="0" indent="0">
              <a:buNone/>
            </a:pPr>
            <a:r>
              <a:rPr lang="de-DE" b="1" dirty="0"/>
              <a:t>Komplexität:</a:t>
            </a:r>
            <a:endParaRPr lang="de-DE" dirty="0"/>
          </a:p>
          <a:p>
            <a:r>
              <a:rPr lang="de-DE" dirty="0"/>
              <a:t>komplexere Zielstrukturen</a:t>
            </a:r>
          </a:p>
          <a:p>
            <a:r>
              <a:rPr lang="de-DE" dirty="0"/>
              <a:t>mehr Underlyings</a:t>
            </a:r>
          </a:p>
          <a:p>
            <a:pPr marL="0" indent="0">
              <a:buNone/>
            </a:pPr>
            <a:r>
              <a:rPr lang="de-DE" b="1" dirty="0"/>
              <a:t>Darstellung:</a:t>
            </a:r>
            <a:endParaRPr lang="de-DE" dirty="0"/>
          </a:p>
          <a:p>
            <a:r>
              <a:rPr lang="de-DE" dirty="0"/>
              <a:t>absolute Preise statt relativer Größen</a:t>
            </a:r>
          </a:p>
          <a:p>
            <a:r>
              <a:rPr lang="de-DE" dirty="0"/>
              <a:t>Transformationen zur besseren Approximation (z. B. </a:t>
            </a:r>
            <a:r>
              <a:rPr lang="de-DE" dirty="0" err="1"/>
              <a:t>arccos</a:t>
            </a:r>
            <a:r>
              <a:rPr lang="de-DE" dirty="0"/>
              <a:t>-Transformation)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2319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3D638-38FE-1BCD-5CE4-4676CB6E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Non-Uniform Fast Fourier Transform (NUFFT)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9ED74E5-C772-6226-DEB5-02ECF68A5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2"/>
              <a:lstStyle/>
              <a:p>
                <a:pPr marL="0" indent="0">
                  <a:buNone/>
                </a:pPr>
                <a:r>
                  <a:rPr lang="de-DE" b="1" dirty="0"/>
                  <a:t>Problem:</a:t>
                </a:r>
                <a:endParaRPr lang="de-DE" dirty="0"/>
              </a:p>
              <a:p>
                <a:r>
                  <a:rPr lang="de-DE" dirty="0"/>
                  <a:t>Daten nicht gleichmäßig verteilt</a:t>
                </a:r>
              </a:p>
              <a:p>
                <a:r>
                  <a:rPr lang="de-DE" dirty="0"/>
                  <a:t>klassische FFT nicht anwendbar</a:t>
                </a:r>
              </a:p>
              <a:p>
                <a:pPr marL="0" indent="0">
                  <a:buNone/>
                </a:pPr>
                <a:r>
                  <a:rPr lang="de-DE" b="1" dirty="0"/>
                  <a:t>Idee:</a:t>
                </a:r>
                <a:endParaRPr lang="de-DE" dirty="0"/>
              </a:p>
              <a:p>
                <a:r>
                  <a:rPr lang="de-DE" dirty="0"/>
                  <a:t>Fourier-Analyse für nicht-uniforme Daten</a:t>
                </a:r>
              </a:p>
              <a:p>
                <a:pPr marL="0" indent="0">
                  <a:buNone/>
                </a:pPr>
                <a:r>
                  <a:rPr lang="de-DE" b="1" dirty="0"/>
                  <a:t>Vorgehen:</a:t>
                </a:r>
                <a:endParaRPr lang="de-DE" dirty="0"/>
              </a:p>
              <a:p>
                <a:r>
                  <a:rPr lang="de-DE" b="1" dirty="0"/>
                  <a:t>Interpolation:</a:t>
                </a:r>
                <a:endParaRPr lang="de-DE" dirty="0"/>
              </a:p>
              <a:p>
                <a:pPr lvl="1"/>
                <a:r>
                  <a:rPr lang="de-DE" dirty="0"/>
                  <a:t>Daten auf ein äquidistantes Gitter abbilden</a:t>
                </a:r>
              </a:p>
              <a:p>
                <a:pPr lvl="1"/>
                <a:r>
                  <a:rPr lang="de-DE" dirty="0"/>
                  <a:t>mittels Fensterfunktion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</a:p>
              <a:p>
                <a:pPr lvl="1"/>
                <a:endParaRPr lang="de-DE" dirty="0"/>
              </a:p>
              <a:p>
                <a:pPr lvl="1"/>
                <a:endParaRPr lang="de-DE" dirty="0"/>
              </a:p>
              <a:p>
                <a:r>
                  <a:rPr lang="de-DE" b="1" dirty="0"/>
                  <a:t>FFT:</a:t>
                </a:r>
                <a:endParaRPr lang="de-DE" dirty="0"/>
              </a:p>
              <a:p>
                <a:r>
                  <a:rPr lang="de-DE" dirty="0"/>
                  <a:t>klassische FFT auf dem Gitter anwenden</a:t>
                </a:r>
              </a:p>
              <a:p>
                <a:r>
                  <a:rPr lang="de-DE" b="1" dirty="0"/>
                  <a:t>Korrektur:</a:t>
                </a:r>
                <a:endParaRPr lang="de-DE" dirty="0"/>
              </a:p>
              <a:p>
                <a:r>
                  <a:rPr lang="de-DE" dirty="0"/>
                  <a:t>Division durch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</a:p>
              <a:p>
                <a:pPr marL="0" indent="0">
                  <a:buNone/>
                </a:pPr>
                <a:r>
                  <a:rPr lang="de-DE" b="1" dirty="0"/>
                  <a:t>Ergebnis:</a:t>
                </a:r>
                <a:endParaRPr lang="de-DE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e>
                    </m:acc>
                    <m:r>
                      <a:rPr lang="de-DE" i="1" dirty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 i="0" dirty="0">
                            <a:latin typeface="Cambria Math" panose="02040503050406030204" pitchFamily="18" charset="0"/>
                          </a:rPr>
                          <m:t>FFT</m:t>
                        </m:r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dirty="0" err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num>
                      <m:den>
                        <m:acc>
                          <m:accPr>
                            <m:chr m:val="̂"/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acc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den>
                    </m:f>
                  </m:oMath>
                </a14:m>
              </a:p>
              <a:p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9ED74E5-C772-6226-DEB5-02ECF68A5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206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5E49E-2209-B613-8E77-6C65239A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Anzahl Parameter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5CB61FE-122E-1294-C37B-D588CBAF4C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39652" y="1844824"/>
            <a:ext cx="6264696" cy="383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3677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98594-BEEE-A4AD-75BC-9C3590AF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Baseline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E7C3C9D-2BB7-E1B3-200A-71AF50E8D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69338"/>
            <a:ext cx="8229600" cy="4387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0543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B26F9-D5B8-7F9F-8614-2BA61F21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Baseline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796BEE4-4C67-B601-AB7A-075F52604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69338"/>
            <a:ext cx="8229600" cy="4387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87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E7F49-66B2-F669-EE0D-932A5249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Baseline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3386D90-A493-410D-C19E-B0C781D61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878992"/>
            <a:ext cx="8229600" cy="396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6411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37C15B-A588-D1CF-2047-EFFC91F2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Baseline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D6152DD-3F42-DD38-6B31-574ADDB9D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863400"/>
            <a:ext cx="8229600" cy="399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168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F6FC1-91E5-F153-5960-0DA6F727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Wenige Daten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1E0581D-F731-81E2-8D61-ECE186936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49815"/>
            <a:ext cx="8229600" cy="442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315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EC762-F468-B2AD-E0D9-5DDFC62D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Rauschen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09E1AED-FE28-6A6E-C642-E272D4856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49815"/>
            <a:ext cx="8229600" cy="442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003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B6887C-A088-D78F-680E-F82A708B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Wenige Daten + Rauschen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732088A-043E-D66C-A92B-AAC3B740E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30684"/>
            <a:ext cx="8229600" cy="446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468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77A71-87E1-5286-BCCE-79D2AF78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Zeitlicher Train-Test Split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9247D65-74B4-0CA5-0797-14E167617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649815"/>
            <a:ext cx="8229600" cy="442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3245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FF95F-713F-E937-7C92-0DFC18B8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Zeitlicher Train-Test Split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79A32E1-AC4E-AA38-F883-9A4CACCF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1856589"/>
            <a:ext cx="8229600" cy="4013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5564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C6B5C-5A5D-3033-AD00-839D2A60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Appendix: Zeitlicher Train-Test Split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92947F8-A4F2-D55C-015C-08CE7F65B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172989"/>
            <a:ext cx="8229600" cy="338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6504271"/>
      </p:ext>
    </p:extLst>
  </p:cSld>
  <p:clrMapOvr>
    <a:masterClrMapping/>
  </p:clrMapOvr>
</p:sld>
</file>

<file path=ppt/theme/theme1.xml><?xml version="1.0" encoding="utf-8"?>
<a:theme xmlns:a="http://schemas.openxmlformats.org/drawingml/2006/main" name="Leere Präsentation">
  <a:themeElements>
    <a:clrScheme name="Leere Prä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eere Präsentation">
      <a:majorFont>
        <a:latin typeface="LMU CompatilFact"/>
        <a:ea typeface="ＭＳ Ｐゴシック"/>
        <a:cs typeface=""/>
      </a:majorFont>
      <a:minorFont>
        <a:latin typeface="LMU CompatilFact"/>
        <a:ea typeface="ＭＳ Ｐゴシック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006C3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rgbClr val="006C31"/>
            </a:solidFill>
            <a:effectLst/>
            <a:latin typeface="LMU CompatilFact" pitchFamily="2" charset="0"/>
            <a:ea typeface="ＭＳ Ｐゴシック" pitchFamily="-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rgbClr val="006C3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rgbClr val="006C31"/>
            </a:solidFill>
            <a:effectLst/>
            <a:latin typeface="LMU CompatilFact" pitchFamily="2" charset="0"/>
            <a:ea typeface="ＭＳ Ｐゴシック" pitchFamily="-12" charset="-128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Microsoft Macintosh PowerPoint</Application>
  <PresentationFormat>Bildschirmpräsentation (4:3)</PresentationFormat>
  <Paragraphs>291</Paragraphs>
  <Slides>35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35</vt:i4>
      </vt:variant>
    </vt:vector>
  </HeadingPairs>
  <TitlesOfParts>
    <vt:vector size="39" baseType="lpstr">
      <vt:lpstr>Arial</vt:lpstr>
      <vt:lpstr>Cambria Math</vt:lpstr>
      <vt:lpstr>LMU CompatilFact</vt:lpstr>
      <vt:lpstr>Leere Präsentation</vt:lpstr>
      <vt:lpstr>Basket Option Pricing with Quantum Circuits</vt:lpstr>
      <vt:lpstr>Motivation: Pricing von Basket Optionen</vt:lpstr>
      <vt:lpstr>Forschungsfrage</vt:lpstr>
      <vt:lpstr>Herausforderung</vt:lpstr>
      <vt:lpstr>Basket Optionen</vt:lpstr>
      <vt:lpstr>Monte Carlo</vt:lpstr>
      <vt:lpstr>Klassische Modelle</vt:lpstr>
      <vt:lpstr>Quantum Modell: Variational Quantum Circuit</vt:lpstr>
      <vt:lpstr>Frequenzstruktur von VQC</vt:lpstr>
      <vt:lpstr>Experimentelles Setup</vt:lpstr>
      <vt:lpstr>Frequenzanalyse</vt:lpstr>
      <vt:lpstr>Ergebnisse: Baseline</vt:lpstr>
      <vt:lpstr>Einfluss der Datensatzgröße</vt:lpstr>
      <vt:lpstr>Einfluss von Rauschen</vt:lpstr>
      <vt:lpstr>Wenige Daten + Rauschen</vt:lpstr>
      <vt:lpstr>Zeitlicher Train-Test Split</vt:lpstr>
      <vt:lpstr>Zeitlicher Train-Test Split</vt:lpstr>
      <vt:lpstr>Fazit</vt:lpstr>
      <vt:lpstr>Appendix: Train Block</vt:lpstr>
      <vt:lpstr>Appendix: Relative Preise und Moneyness</vt:lpstr>
      <vt:lpstr>Appendix: Rauschen </vt:lpstr>
      <vt:lpstr>Appendix: Training</vt:lpstr>
      <vt:lpstr>Appendix: Ausblick</vt:lpstr>
      <vt:lpstr>Appendix: Non-Uniform Fast Fourier Transform (NUFFT)</vt:lpstr>
      <vt:lpstr>Appendix: Anzahl Parameter</vt:lpstr>
      <vt:lpstr>Appendix: Baseline</vt:lpstr>
      <vt:lpstr>Appendix: Baseline</vt:lpstr>
      <vt:lpstr>Appendix: Baseline</vt:lpstr>
      <vt:lpstr>Appendix: Baseline</vt:lpstr>
      <vt:lpstr>Appendix: Wenige Daten</vt:lpstr>
      <vt:lpstr>Appendix: Rauschen</vt:lpstr>
      <vt:lpstr>Appendix: Wenige Daten + Rauschen </vt:lpstr>
      <vt:lpstr>Appendix: Zeitlicher Train-Test Split</vt:lpstr>
      <vt:lpstr>Appendix: Zeitlicher Train-Test Split</vt:lpstr>
      <vt:lpstr>Appendix: Zeitlicher Train-Test Split</vt:lpstr>
    </vt:vector>
  </TitlesOfParts>
  <Company>Mobile and Distributed Systems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Media Mobile Platforms, Technologies and Services</dc:title>
  <dc:creator/>
  <cp:lastModifiedBy>Moritz Maier</cp:lastModifiedBy>
  <cp:revision>400</cp:revision>
  <dcterms:created xsi:type="dcterms:W3CDTF">2005-08-04T13:10:27Z</dcterms:created>
  <dcterms:modified xsi:type="dcterms:W3CDTF">2026-04-14T19:00:44Z</dcterms:modified>
</cp:coreProperties>
</file>